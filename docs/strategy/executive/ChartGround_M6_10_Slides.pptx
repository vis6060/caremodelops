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102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457200"/>
            <a:ext cx="9784080" cy="183127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7DBBAD"/>
                </a:solidFill>
                <a:latin typeface="Aptos"/>
              </a:defRPr>
            </a:pPr>
            <a:r>
              <a:rPr dirty="0" err="1"/>
              <a:t>C</a:t>
            </a:r>
            <a:r>
              <a:rPr lang="en-US" dirty="0" err="1"/>
              <a:t>areModelOps</a:t>
            </a:r>
            <a:r>
              <a:rPr dirty="0"/>
              <a:t>  /  EXECUTIVE 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INVESTMENT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rPr dirty="0"/>
              <a:t>Validate the oncology ISV wedge—do not launch broadly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rPr dirty="0"/>
              <a:t>Win healthcare software developers through source-backed specialty workflows, then monetize repeat API usage.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761488"/>
            <a:ext cx="5230368" cy="1033271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871216"/>
            <a:ext cx="4901183" cy="1737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099816"/>
            <a:ext cx="4882896" cy="36576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7FAF8"/>
                </a:solidFill>
                <a:latin typeface="Aptos"/>
              </a:defRPr>
            </a:pPr>
            <a:r>
              <a:t>Where to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493008"/>
            <a:ext cx="4882896" cy="210311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70" b="0">
                <a:solidFill>
                  <a:srgbClr val="B9CAC7"/>
                </a:solidFill>
                <a:latin typeface="Aptos"/>
              </a:defRPr>
            </a:pPr>
            <a:r>
              <a:t>Clinical workflow ISVs; oncology is the first use 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8" y="2761488"/>
            <a:ext cx="5404104" cy="1033271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2871216"/>
            <a:ext cx="5074920" cy="1737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099816"/>
            <a:ext cx="5056632" cy="36576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7FAF8"/>
                </a:solidFill>
                <a:latin typeface="Aptos"/>
              </a:defRPr>
            </a:pPr>
            <a:r>
              <a:t>What to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493008"/>
            <a:ext cx="5056632" cy="210311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70" b="0">
                <a:solidFill>
                  <a:srgbClr val="B9CAC7"/>
                </a:solidFill>
                <a:latin typeface="Aptos"/>
              </a:defRPr>
            </a:pPr>
            <a:r>
              <a:t>Developer quickstart + evaluation + spend transparency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3959352"/>
            <a:ext cx="5230368" cy="1033271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4069080"/>
            <a:ext cx="4901183" cy="1737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ECONOMICS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297680"/>
            <a:ext cx="4882896" cy="36576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7FAF8"/>
                </a:solidFill>
                <a:latin typeface="Aptos"/>
              </a:defRPr>
            </a:pPr>
            <a:r>
              <a:t>How to monetize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690872"/>
            <a:ext cx="4882896" cy="21031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70" b="0">
                <a:solidFill>
                  <a:srgbClr val="B9CAC7"/>
                </a:solidFill>
                <a:latin typeface="Aptos"/>
              </a:defRPr>
            </a:pPr>
            <a:r>
              <a:t>Usage-based API billings → sustained use → commitments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9048" y="3959352"/>
            <a:ext cx="5404104" cy="1033271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4069080"/>
            <a:ext cx="5074920" cy="1737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CHANNEL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297680"/>
            <a:ext cx="5056632" cy="36576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7FAF8"/>
                </a:solidFill>
                <a:latin typeface="Aptos"/>
              </a:defRPr>
            </a:pPr>
            <a:r>
              <a:t>How to distribute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690872"/>
            <a:ext cx="5056632" cy="21031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70" b="0">
                <a:solidFill>
                  <a:srgbClr val="B9CAC7"/>
                </a:solidFill>
                <a:latin typeface="Aptos"/>
              </a:defRPr>
            </a:pPr>
            <a:r>
              <a:t>Direct API first; cloud and healthcare partners as needed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" y="5248656"/>
            <a:ext cx="10826496" cy="832104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468112"/>
            <a:ext cx="1920240" cy="20116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9AE5F"/>
                </a:solidFill>
                <a:latin typeface="Aptos"/>
              </a:defRPr>
            </a:pPr>
            <a:r>
              <a:t>DECISION REQUESTED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5431536"/>
            <a:ext cx="8375904" cy="41148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7FAF8"/>
                </a:solidFill>
                <a:latin typeface="Aptos"/>
              </a:defRPr>
            </a:pPr>
            <a:r>
              <a:t>Approve bounded research, evaluation, and design-partner validation—no scale commitment yet.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WHERE TO COMPETE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Clinical workflow ISVs are the first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Weighted analyst scores from M6.1; these are research judgments, not observed demand.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79192"/>
            <a:ext cx="3154680" cy="30175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Clinical workflow ISVs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59352" y="2720340"/>
            <a:ext cx="5074920" cy="173736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59352" y="2720340"/>
            <a:ext cx="3958437" cy="173736"/>
          </a:xfrm>
          <a:prstGeom prst="rect">
            <a:avLst/>
          </a:prstGeom>
          <a:solidFill>
            <a:srgbClr val="7DB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62288" y="2665476"/>
            <a:ext cx="704088" cy="32918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3.90/5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30384" y="2706624"/>
            <a:ext cx="1499616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227832"/>
            <a:ext cx="3154680" cy="30175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F7FAF8"/>
                </a:solidFill>
                <a:latin typeface="Aptos"/>
              </a:defRPr>
            </a:pPr>
            <a:r>
              <a:t>Payer platforms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9352" y="3268980"/>
            <a:ext cx="5074920" cy="173736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959352" y="3268980"/>
            <a:ext cx="3704691" cy="173736"/>
          </a:xfrm>
          <a:prstGeom prst="rect">
            <a:avLst/>
          </a:prstGeom>
          <a:solidFill>
            <a:srgbClr val="E9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62288" y="3214116"/>
            <a:ext cx="704088" cy="32918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3.65/5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0384" y="3255264"/>
            <a:ext cx="1499616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NEXT 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776472"/>
            <a:ext cx="3154680" cy="30175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F7FAF8"/>
                </a:solidFill>
                <a:latin typeface="Aptos"/>
              </a:defRPr>
            </a:pPr>
            <a:r>
              <a:t>Oncology software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9352" y="3817620"/>
            <a:ext cx="5074920" cy="173736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959352" y="3817620"/>
            <a:ext cx="3450945" cy="173736"/>
          </a:xfrm>
          <a:prstGeom prst="rect">
            <a:avLst/>
          </a:prstGeom>
          <a:solidFill>
            <a:srgbClr val="C9E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62288" y="3762756"/>
            <a:ext cx="704088" cy="32918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3.40/5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0384" y="3803904"/>
            <a:ext cx="1499616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B9CAC7"/>
                </a:solidFill>
                <a:latin typeface="Aptos"/>
              </a:defRPr>
            </a:pPr>
            <a:r>
              <a:t>USE CASE INSIDE ISVs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325112"/>
            <a:ext cx="3154680" cy="30175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F7FAF8"/>
                </a:solidFill>
                <a:latin typeface="Aptos"/>
              </a:defRPr>
            </a:pPr>
            <a:r>
              <a:t>EHR vendors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59352" y="4366260"/>
            <a:ext cx="5074920" cy="173736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959352" y="4366260"/>
            <a:ext cx="3349447" cy="173736"/>
          </a:xfrm>
          <a:prstGeom prst="rect">
            <a:avLst/>
          </a:prstGeom>
          <a:solidFill>
            <a:srgbClr val="B9C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62288" y="4311396"/>
            <a:ext cx="704088" cy="32918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3.30/5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0384" y="4352544"/>
            <a:ext cx="1499616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B9CAC7"/>
                </a:solidFill>
                <a:latin typeface="Aptos"/>
              </a:defRPr>
            </a:pPr>
            <a:r>
              <a:t>LATER CHANNEL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873752"/>
            <a:ext cx="3154680" cy="30175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F7FAF8"/>
                </a:solidFill>
                <a:latin typeface="Aptos"/>
              </a:defRPr>
            </a:pPr>
            <a:r>
              <a:t>Healthcare AI developers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9352" y="4914900"/>
            <a:ext cx="5074920" cy="173736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959352" y="4914900"/>
            <a:ext cx="3044951" cy="173736"/>
          </a:xfrm>
          <a:prstGeom prst="rect">
            <a:avLst/>
          </a:prstGeom>
          <a:solidFill>
            <a:srgbClr val="B9C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62288" y="4860036"/>
            <a:ext cx="704088" cy="32918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3.00/5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4901184"/>
            <a:ext cx="1499616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B9CAC7"/>
                </a:solidFill>
                <a:latin typeface="Aptos"/>
              </a:defRPr>
            </a:pPr>
            <a:r>
              <a:t>ACQUISITION FUNNEL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" y="5660136"/>
            <a:ext cx="10579608" cy="493776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0976" y="5779008"/>
            <a:ext cx="10149840" cy="23774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80" b="1">
                <a:solidFill>
                  <a:srgbClr val="F7FAF8"/>
                </a:solidFill>
                <a:latin typeface="Aptos"/>
              </a:defRPr>
            </a:pPr>
            <a:r>
              <a:t>Key distinction: oncology is the initial specialty workflow within clinical-workflow ISVs—not a sixth competing market.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CUSTOMER WEDGE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Start with recurring, evidence-grounded oncology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13432"/>
            <a:ext cx="1065276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Avoid generic ambient notes; evaluate buyer problems where longitudinal evidence and traceability matter.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2660904"/>
            <a:ext cx="5285232" cy="147218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770632"/>
            <a:ext cx="4956048" cy="1737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FIRST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99232"/>
            <a:ext cx="4937760" cy="36576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F7FAF8"/>
                </a:solidFill>
                <a:latin typeface="Aptos"/>
              </a:defRPr>
            </a:pPr>
            <a:r>
              <a:t>Source-backed oncology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92424"/>
            <a:ext cx="4937760" cy="64922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70" b="0">
                <a:solidFill>
                  <a:srgbClr val="B9CAC7"/>
                </a:solidFill>
                <a:latin typeface="Aptos"/>
              </a:defRPr>
            </a:pPr>
            <a:r>
              <a:t>Longitudinal chart context, contradictions, citations, clinician review and handoffs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660904"/>
            <a:ext cx="5285232" cy="147218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2770632"/>
            <a:ext cx="4956048" cy="1737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RESEARCH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999232"/>
            <a:ext cx="4937760" cy="36576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850" b="1">
                <a:solidFill>
                  <a:srgbClr val="F7FAF8"/>
                </a:solidFill>
                <a:latin typeface="Aptos"/>
              </a:defRPr>
            </a:pPr>
            <a:r>
              <a:t>Six discovery candidates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3392424"/>
            <a:ext cx="4937760" cy="64922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70" b="0">
                <a:solidFill>
                  <a:srgbClr val="B9CAC7"/>
                </a:solidFill>
                <a:latin typeface="Aptos"/>
              </a:defRPr>
            </a:pPr>
            <a:r>
              <a:t>Publicly researched targets, not signed design partners or known Claude customers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07408"/>
            <a:ext cx="3493008" cy="502920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498848"/>
            <a:ext cx="2020824" cy="27432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Navigating Care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526280"/>
            <a:ext cx="1188720" cy="21945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1050" b="0">
                <a:solidFill>
                  <a:srgbClr val="E9AE5F"/>
                </a:solidFill>
                <a:latin typeface="Aptos"/>
              </a:defRPr>
            </a:pPr>
            <a:r>
              <a:t>Triage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1416" y="4407408"/>
            <a:ext cx="3493008" cy="502920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4498848"/>
            <a:ext cx="2020824" cy="27432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Canopy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5" y="4526280"/>
            <a:ext cx="1188720" cy="21945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1050" b="0">
                <a:solidFill>
                  <a:srgbClr val="E9AE5F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4407408"/>
            <a:ext cx="3493008" cy="502920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4464" y="4498848"/>
            <a:ext cx="2020824" cy="27432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OncoHealth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0152" y="4526280"/>
            <a:ext cx="1188720" cy="21945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1050" b="0">
                <a:solidFill>
                  <a:srgbClr val="E9AE5F"/>
                </a:solidFill>
                <a:latin typeface="Aptos"/>
              </a:defRPr>
            </a:pPr>
            <a:r>
              <a:t>UM 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047488"/>
            <a:ext cx="3493008" cy="502920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5138928"/>
            <a:ext cx="2020824" cy="27432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Candid 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5166360"/>
            <a:ext cx="1188720" cy="21945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1050" b="0">
                <a:solidFill>
                  <a:srgbClr val="E9AE5F"/>
                </a:solidFill>
                <a:latin typeface="Aptos"/>
              </a:defRPr>
            </a:pPr>
            <a:r>
              <a:t>Denials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1416" y="5047488"/>
            <a:ext cx="3493008" cy="502920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90288" y="5138928"/>
            <a:ext cx="2020824" cy="27432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Tennr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5975" y="5166360"/>
            <a:ext cx="1188720" cy="21945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1050" b="0">
                <a:solidFill>
                  <a:srgbClr val="E9AE5F"/>
                </a:solidFill>
                <a:latin typeface="Aptos"/>
              </a:defRPr>
            </a:pPr>
            <a:r>
              <a:t>Referrals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65592" y="5047488"/>
            <a:ext cx="3493008" cy="502920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84464" y="5138928"/>
            <a:ext cx="2020824" cy="27432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Stedi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0152" y="5166360"/>
            <a:ext cx="1188720" cy="21945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1050" b="0">
                <a:solidFill>
                  <a:srgbClr val="E9AE5F"/>
                </a:solidFill>
                <a:latin typeface="Aptos"/>
              </a:defRPr>
            </a:pPr>
            <a:r>
              <a:t>Payer APIs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5925312"/>
            <a:ext cx="10680192" cy="34747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9CAC7"/>
                </a:solidFill>
                <a:latin typeface="Aptos"/>
              </a:defRPr>
            </a:pPr>
            <a:r>
              <a:t>Research plan: validate workflow frequency, existing model choice, buyer authority, and willingness to pay before prioritizing accounts.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PRODUCT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Make the first evaluated workflow easy to 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North star: external healthcare ISVs with sustained, paid production API usage—not signups.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2651760"/>
            <a:ext cx="1645920" cy="850392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770632"/>
            <a:ext cx="329184" cy="20116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AE5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43200"/>
            <a:ext cx="1170432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136392"/>
            <a:ext cx="1408176" cy="20116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B9CAC7"/>
                </a:solidFill>
                <a:latin typeface="Aptos"/>
              </a:defRPr>
            </a:pPr>
            <a:r>
              <a:t>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8296" y="2852928"/>
            <a:ext cx="155448" cy="27432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E9AE5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32888" y="2651760"/>
            <a:ext cx="1645920" cy="850392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33472" y="2770632"/>
            <a:ext cx="329184" cy="20116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AE5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743200"/>
            <a:ext cx="1170432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Activate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3136392"/>
            <a:ext cx="1408176" cy="20116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B9CAC7"/>
                </a:solidFill>
                <a:latin typeface="Aptos"/>
              </a:defRPr>
            </a:pPr>
            <a:r>
              <a:t>First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7096" y="2852928"/>
            <a:ext cx="155448" cy="27432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E9AE5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2651760"/>
            <a:ext cx="1645920" cy="850392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62272" y="2770632"/>
            <a:ext cx="329184" cy="20116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AE5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2743200"/>
            <a:ext cx="1170432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3136392"/>
            <a:ext cx="1408176" cy="20116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B9CAC7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5896" y="2852928"/>
            <a:ext cx="155448" cy="27432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E9AE5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2651760"/>
            <a:ext cx="1645920" cy="850392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91072" y="2770632"/>
            <a:ext cx="329184" cy="20116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AE5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743200"/>
            <a:ext cx="1170432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136392"/>
            <a:ext cx="1408176" cy="20116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B9CAC7"/>
                </a:solidFill>
                <a:latin typeface="Aptos"/>
              </a:defRPr>
            </a:pPr>
            <a:r>
              <a:t>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4696" y="2852928"/>
            <a:ext cx="155448" cy="27432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E9AE5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9288" y="2651760"/>
            <a:ext cx="1645920" cy="850392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19871" y="2770632"/>
            <a:ext cx="329184" cy="20116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AE5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743200"/>
            <a:ext cx="1170432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136392"/>
            <a:ext cx="1408176" cy="20116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B9CAC7"/>
                </a:solidFill>
                <a:latin typeface="Aptos"/>
              </a:defRPr>
            </a:pPr>
            <a:r>
              <a:t>Live 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2852928"/>
            <a:ext cx="155448" cy="27432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E9AE5F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48088" y="2651760"/>
            <a:ext cx="1645920" cy="850392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48672" y="2770632"/>
            <a:ext cx="329184" cy="20116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9AE5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2743200"/>
            <a:ext cx="1170432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7FAF8"/>
                </a:solidFill>
                <a:latin typeface="Aptos"/>
              </a:defRPr>
            </a:pPr>
            <a:r>
              <a:t>Expand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85248" y="3136392"/>
            <a:ext cx="1408176" cy="20116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00" b="0">
                <a:solidFill>
                  <a:srgbClr val="B9CAC7"/>
                </a:solidFill>
                <a:latin typeface="Aptos"/>
              </a:defRPr>
            </a:pPr>
            <a:r>
              <a:t>Repeat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3858768"/>
            <a:ext cx="10378440" cy="23774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P0 INVESTMENTS  —  FIVE CAPABILITIES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4279392"/>
            <a:ext cx="2029968" cy="110642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4471416"/>
            <a:ext cx="1810512" cy="29260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Quickstart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4882896"/>
            <a:ext cx="178308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60" b="0">
                <a:solidFill>
                  <a:srgbClr val="B9CAC7"/>
                </a:solidFill>
                <a:latin typeface="Aptos"/>
              </a:defRPr>
            </a:pPr>
            <a:r>
              <a:t>FHIR synthetic example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16936" y="4279392"/>
            <a:ext cx="2029968" cy="110642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044952" y="4471416"/>
            <a:ext cx="1810512" cy="29260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4952" y="4882896"/>
            <a:ext cx="178308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60" b="0">
                <a:solidFill>
                  <a:srgbClr val="B9CAC7"/>
                </a:solidFill>
                <a:latin typeface="Aptos"/>
              </a:defRPr>
            </a:pPr>
            <a:r>
              <a:t>Evidence + review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20640" y="4279392"/>
            <a:ext cx="2029968" cy="110642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48656" y="4471416"/>
            <a:ext cx="1810512" cy="29260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Cost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48656" y="4882896"/>
            <a:ext cx="178308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60" b="0">
                <a:solidFill>
                  <a:srgbClr val="B9CAC7"/>
                </a:solidFill>
                <a:latin typeface="Aptos"/>
              </a:defRPr>
            </a:pPr>
            <a:r>
              <a:t>Per accepted workflow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24344" y="4279392"/>
            <a:ext cx="2029968" cy="110642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52360" y="4471416"/>
            <a:ext cx="1810512" cy="29260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Readiness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4882896"/>
            <a:ext cx="178308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60" b="0">
                <a:solidFill>
                  <a:srgbClr val="B9CAC7"/>
                </a:solidFill>
                <a:latin typeface="Aptos"/>
              </a:defRPr>
            </a:pPr>
            <a:r>
              <a:t>PHI / security gates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28048" y="4279392"/>
            <a:ext cx="2029968" cy="110642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56064" y="4471416"/>
            <a:ext cx="1810512" cy="29260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7FAF8"/>
                </a:solidFill>
                <a:latin typeface="Aptos"/>
              </a:defRPr>
            </a:pPr>
            <a:r>
              <a:t>Telemetry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56064" y="4882896"/>
            <a:ext cx="178308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060" b="0">
                <a:solidFill>
                  <a:srgbClr val="B9CAC7"/>
                </a:solidFill>
                <a:latin typeface="Aptos"/>
              </a:defRPr>
            </a:pPr>
            <a:r>
              <a:t>Cohort conversion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" y="5641848"/>
            <a:ext cx="10588752" cy="475488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50976" y="5760720"/>
            <a:ext cx="10076688" cy="28346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20" b="0">
                <a:solidFill>
                  <a:srgbClr val="F7FAF8"/>
                </a:solidFill>
                <a:latin typeface="Aptos"/>
              </a:defRPr>
            </a:pPr>
            <a:r>
              <a:t>Measure activation → evaluated pilot → paid production at Day 180; proposed targets are unvalidated, cohort-specific hypotheses.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COMPETITION AND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Prove Claude value with a matched, blinded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No current-model clinical-quality winner has been established by this case study.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642616"/>
            <a:ext cx="3538728" cy="1234440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752344"/>
            <a:ext cx="3209544" cy="1737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CANDIDATE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980944"/>
            <a:ext cx="3191256" cy="36576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7FAF8"/>
                </a:solidFill>
                <a:latin typeface="Aptos"/>
              </a:defRPr>
            </a:pPr>
            <a:r>
              <a:t>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374136"/>
            <a:ext cx="3191256" cy="411479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70" b="0">
                <a:solidFill>
                  <a:srgbClr val="B9CAC7"/>
                </a:solidFill>
                <a:latin typeface="Aptos"/>
              </a:defRPr>
            </a:pPr>
            <a:r>
              <a:t>Citations and developer platform; verify structured-output workaround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3128" y="2642616"/>
            <a:ext cx="3538728" cy="1234440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2752344"/>
            <a:ext cx="3209544" cy="1737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CANDIDATE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980944"/>
            <a:ext cx="3191256" cy="36576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7FAF8"/>
                </a:solidFill>
                <a:latin typeface="Aptos"/>
              </a:defRPr>
            </a:pPr>
            <a:r>
              <a:t>GPT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374136"/>
            <a:ext cx="3191256" cy="411479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70" b="0">
                <a:solidFill>
                  <a:srgbClr val="B9CAC7"/>
                </a:solidFill>
                <a:latin typeface="Aptos"/>
              </a:defRPr>
            </a:pPr>
            <a:r>
              <a:t>Competing models/tools; compare safety, evidence and complete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642616"/>
            <a:ext cx="3538728" cy="1234440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1" y="2752344"/>
            <a:ext cx="3209544" cy="1737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960" b="1">
                <a:solidFill>
                  <a:srgbClr val="E9AE5F"/>
                </a:solidFill>
                <a:latin typeface="Aptos"/>
              </a:defRPr>
            </a:pPr>
            <a:r>
              <a:t>CANDIDATE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980944"/>
            <a:ext cx="3191256" cy="36576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7FAF8"/>
                </a:solidFill>
                <a:latin typeface="Aptos"/>
              </a:defRPr>
            </a:pPr>
            <a:r>
              <a:t>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3374136"/>
            <a:ext cx="3191256" cy="411479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70" b="0">
                <a:solidFill>
                  <a:srgbClr val="B9CAC7"/>
                </a:solidFill>
                <a:latin typeface="Aptos"/>
              </a:defRPr>
            </a:pPr>
            <a:r>
              <a:t>Multimodal/cloud choices; compare deployment and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096512"/>
            <a:ext cx="10698480" cy="21031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EVALUATION DESIGN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462272"/>
            <a:ext cx="5285232" cy="512064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4562856"/>
            <a:ext cx="1490472" cy="21031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F7FAF8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8" y="4562856"/>
            <a:ext cx="3593592" cy="23774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10" b="0">
                <a:solidFill>
                  <a:srgbClr val="B9CAC7"/>
                </a:solidFill>
                <a:latin typeface="Aptos"/>
              </a:defRPr>
            </a:pPr>
            <a:r>
              <a:t>Supported claims, citation validity, conflicts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0216" y="4462272"/>
            <a:ext cx="5285232" cy="512064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7376" y="4562856"/>
            <a:ext cx="1490472" cy="21031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F7FAF8"/>
                </a:solidFill>
                <a:latin typeface="Aptos"/>
              </a:defRPr>
            </a:pPr>
            <a:r>
              <a:t>Clinical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4696" y="4562856"/>
            <a:ext cx="3593592" cy="23774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10" b="0">
                <a:solidFill>
                  <a:srgbClr val="B9CAC7"/>
                </a:solidFill>
                <a:latin typeface="Aptos"/>
              </a:defRPr>
            </a:pPr>
            <a:r>
              <a:t>Harmful errors, abstentions and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5084064"/>
            <a:ext cx="5285232" cy="512064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6968" y="5184648"/>
            <a:ext cx="1490472" cy="21031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F7FAF8"/>
                </a:solidFill>
                <a:latin typeface="Aptos"/>
              </a:defRPr>
            </a:pPr>
            <a:r>
              <a:t>Workflow 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04288" y="5184648"/>
            <a:ext cx="3593592" cy="23774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10" b="0">
                <a:solidFill>
                  <a:srgbClr val="B9CAC7"/>
                </a:solidFill>
                <a:latin typeface="Aptos"/>
              </a:defRPr>
            </a:pPr>
            <a:r>
              <a:t>Accepted-case rate and reviewer 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5084064"/>
            <a:ext cx="5285232" cy="512064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37376" y="5184648"/>
            <a:ext cx="1490472" cy="21031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F7FAF8"/>
                </a:solidFill>
                <a:latin typeface="Aptos"/>
              </a:defRPr>
            </a:pPr>
            <a:r>
              <a:t>Economics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54696" y="5184648"/>
            <a:ext cx="3593592" cy="23774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10" b="0">
                <a:solidFill>
                  <a:srgbClr val="B9CAC7"/>
                </a:solidFill>
                <a:latin typeface="Aptos"/>
              </a:defRPr>
            </a:pPr>
            <a:r>
              <a:t>Latency and cost per accepted 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5971032"/>
            <a:ext cx="1078992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70" b="0">
                <a:solidFill>
                  <a:srgbClr val="B9CAC7"/>
                </a:solidFill>
                <a:latin typeface="Aptos"/>
              </a:defRPr>
            </a:pPr>
            <a:r>
              <a:t>Compare the same synthetic/deidentified cases and a no-AI baseline. Clinician review is proposed; none has occurred in M6.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MONETIZATION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Consumption intensity matters more than ISV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M6.2 scenarios are illustrative API billings—not recognized Anthropic revenue or margins.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2679192"/>
            <a:ext cx="3538728" cy="1572768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2"/>
            <a:ext cx="3154680" cy="53035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$125K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11296"/>
            <a:ext cx="3209544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9AE5F"/>
                </a:solidFill>
                <a:latin typeface="Aptos"/>
              </a:defRPr>
            </a:pPr>
            <a:r>
              <a:t>First-year base billings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49624"/>
            <a:ext cx="3182112" cy="22860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50" b="0">
                <a:solidFill>
                  <a:srgbClr val="B9CAC7"/>
                </a:solidFill>
                <a:latin typeface="Aptos"/>
              </a:defRPr>
            </a:pPr>
            <a:r>
              <a:t>Modeled 12-month ramp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679192"/>
            <a:ext cx="3538728" cy="1572768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08576" y="2907792"/>
            <a:ext cx="3154680" cy="53035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$269K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3511296"/>
            <a:ext cx="3209544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9AE5F"/>
                </a:solidFill>
                <a:latin typeface="Aptos"/>
              </a:defRPr>
            </a:pPr>
            <a:r>
              <a:t>Month-12 annualized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849624"/>
            <a:ext cx="3182112" cy="22860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50" b="0">
                <a:solidFill>
                  <a:srgbClr val="B9CAC7"/>
                </a:solidFill>
                <a:latin typeface="Aptos"/>
              </a:defRPr>
            </a:pPr>
            <a:r>
              <a:t>50 paying ISVs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2679192"/>
            <a:ext cx="3538728" cy="1572768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1" y="2907792"/>
            <a:ext cx="3154680" cy="53035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186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3511296"/>
            <a:ext cx="3209544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9AE5F"/>
                </a:solidFill>
                <a:latin typeface="Aptos"/>
              </a:defRPr>
            </a:pPr>
            <a:r>
              <a:t>ISVs for $1M annualized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3849624"/>
            <a:ext cx="3182112" cy="22860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50" b="0">
                <a:solidFill>
                  <a:srgbClr val="B9CAC7"/>
                </a:solidFill>
                <a:latin typeface="Aptos"/>
              </a:defRPr>
            </a:pPr>
            <a:r>
              <a:t>At 30k monthly workflows each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" y="4535424"/>
            <a:ext cx="10835640" cy="1097280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4700016"/>
            <a:ext cx="3977639" cy="22860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DOWNSTREAM ISV UNIT ECONOMICS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10912"/>
            <a:ext cx="1353312" cy="33832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F7FAF8"/>
                </a:solidFill>
                <a:latin typeface="Aptos"/>
              </a:defRPr>
            </a:pPr>
            <a:r>
              <a:t>30,000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074920"/>
            <a:ext cx="2944368" cy="21031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B9CAC7"/>
                </a:solidFill>
                <a:latin typeface="Aptos"/>
              </a:defRPr>
            </a:pPr>
            <a:r>
              <a:t>modeled workflows /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8112" y="5047488"/>
            <a:ext cx="329184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vs.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010912"/>
            <a:ext cx="1472184" cy="33832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F7FAF8"/>
                </a:solidFill>
                <a:latin typeface="Aptos"/>
              </a:defRPr>
            </a:pPr>
            <a:r>
              <a:t>31,558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5074920"/>
            <a:ext cx="3419856" cy="21031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B9CAC7"/>
                </a:solidFill>
                <a:latin typeface="Aptos"/>
              </a:defRPr>
            </a:pPr>
            <a:r>
              <a:t>estimated break-even workflows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5879592"/>
            <a:ext cx="10698480" cy="34747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10" b="0">
                <a:solidFill>
                  <a:srgbClr val="B9CAC7"/>
                </a:solidFill>
                <a:latin typeface="Aptos"/>
              </a:defRPr>
            </a:pPr>
            <a:r>
              <a:t>Risk: customer workflow frequency, clinician review costs, discounts and actual paid conversion remain unverified.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RISK-ADJUSTED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The downside justifies validation before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Modeled Year-1 API billings; hypothetical scenarios are not a financial forecast.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79776"/>
            <a:ext cx="3337560" cy="32004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F7FAF8"/>
                </a:solidFill>
                <a:latin typeface="Aptos"/>
              </a:defRPr>
            </a:pPr>
            <a:r>
              <a:t>Base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50791" y="2852928"/>
            <a:ext cx="4965192" cy="210312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50791" y="2852928"/>
            <a:ext cx="3459083" cy="210312"/>
          </a:xfrm>
          <a:prstGeom prst="rect">
            <a:avLst/>
          </a:prstGeom>
          <a:solidFill>
            <a:srgbClr val="7DB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600" y="2734056"/>
            <a:ext cx="1965960" cy="36576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AF8"/>
                </a:solidFill>
                <a:latin typeface="Aptos"/>
              </a:defRPr>
            </a:pPr>
            <a:r>
              <a:t>$125.4K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584448"/>
            <a:ext cx="3337560" cy="32004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F7FAF8"/>
                </a:solidFill>
                <a:latin typeface="Aptos"/>
              </a:defRPr>
            </a:pPr>
            <a:r>
              <a:t>Volume + price stress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50791" y="3657600"/>
            <a:ext cx="4965192" cy="210312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050791" y="3657600"/>
            <a:ext cx="2336398" cy="210312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3538728"/>
            <a:ext cx="1965960" cy="36576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AF8"/>
                </a:solidFill>
                <a:latin typeface="Aptos"/>
              </a:defRPr>
            </a:pPr>
            <a:r>
              <a:t>$84.7K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389120"/>
            <a:ext cx="3337560" cy="32004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Scenario-weighted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50791" y="4462272"/>
            <a:ext cx="4965192" cy="210312"/>
          </a:xfrm>
          <a:prstGeom prst="rect">
            <a:avLst/>
          </a:prstGeom>
          <a:solidFill>
            <a:srgbClr val="153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50791" y="4462272"/>
            <a:ext cx="4523841" cy="210312"/>
          </a:xfrm>
          <a:prstGeom prst="rect">
            <a:avLst/>
          </a:prstGeom>
          <a:solidFill>
            <a:srgbClr val="E9A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600" y="4343400"/>
            <a:ext cx="1965960" cy="36576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F7FAF8"/>
                </a:solidFill>
                <a:latin typeface="Aptos"/>
              </a:defRPr>
            </a:pPr>
            <a:r>
              <a:t>$164.0K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" y="5440680"/>
            <a:ext cx="10625328" cy="740664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596128"/>
            <a:ext cx="3072384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E9AE5F"/>
                </a:solidFill>
                <a:latin typeface="Aptos"/>
              </a:defRPr>
            </a:pPr>
            <a:r>
              <a:t>Do not infer platform profit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5577840"/>
            <a:ext cx="6885432" cy="43891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9CAC7"/>
                </a:solidFill>
                <a:latin typeface="Aptos"/>
              </a:defRPr>
            </a:pPr>
            <a:r>
              <a:t>Model-provider inference cost, selling expense, support and real contracts are unavailable. Weights are subjective.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COMMERCIAL ROUTE AND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Use direct API first; open channels when buyer needs justify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13432"/>
            <a:ext cx="1065276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Distribution choice, HIPAA eligibility and partner economics vary by service and contractual path.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6"/>
            <a:ext cx="2596896" cy="914400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807208"/>
            <a:ext cx="256032" cy="21945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9AE5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2779776"/>
            <a:ext cx="2048256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Direct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27832"/>
            <a:ext cx="2258568" cy="21031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B9CAC7"/>
                </a:solidFill>
                <a:latin typeface="Aptos"/>
              </a:defRPr>
            </a:pPr>
            <a:r>
              <a:t>Developer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2642616"/>
            <a:ext cx="2596896" cy="914400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0168" y="2807208"/>
            <a:ext cx="256032" cy="21945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9AE5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41063" y="2779776"/>
            <a:ext cx="2048256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Cloud 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3227832"/>
            <a:ext cx="2258568" cy="21031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B9CAC7"/>
                </a:solidFill>
                <a:latin typeface="Aptos"/>
              </a:defRPr>
            </a:pPr>
            <a:r>
              <a:t>Procurement fit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2642616"/>
            <a:ext cx="2596896" cy="914400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2807208"/>
            <a:ext cx="256032" cy="21945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9AE5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3" y="2779776"/>
            <a:ext cx="2048256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Services partners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227832"/>
            <a:ext cx="2258568" cy="21031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B9CAC7"/>
                </a:solidFill>
                <a:latin typeface="Aptos"/>
              </a:defRPr>
            </a:pPr>
            <a:r>
              <a:t>Complex integrations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642616"/>
            <a:ext cx="2596896" cy="914400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08007" y="2807208"/>
            <a:ext cx="256032" cy="21945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9AE5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779776"/>
            <a:ext cx="2048256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Oncology platforms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3227832"/>
            <a:ext cx="2258568" cy="21031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B9CAC7"/>
                </a:solidFill>
                <a:latin typeface="Aptos"/>
              </a:defRPr>
            </a:pPr>
            <a:r>
              <a:t>Later 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3858768"/>
            <a:ext cx="10515600" cy="23774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THREE NO-GO GATES BEFORE ANY PHI DEPLOYMENT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" y="4261104"/>
            <a:ext cx="3511296" cy="1207008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" y="4453128"/>
            <a:ext cx="3209544" cy="35661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01   Agreement +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4946904"/>
            <a:ext cx="3200400" cy="44805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40" b="0">
                <a:solidFill>
                  <a:srgbClr val="B9CAC7"/>
                </a:solidFill>
                <a:latin typeface="Aptos"/>
              </a:defRPr>
            </a:pPr>
            <a:r>
              <a:t>Executed BAA; eligible API configuration and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1416" y="4261104"/>
            <a:ext cx="3511296" cy="1207008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4453128"/>
            <a:ext cx="3209544" cy="35661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02   Data-flow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946904"/>
            <a:ext cx="3200400" cy="44805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40" b="0">
                <a:solidFill>
                  <a:srgbClr val="B9CAC7"/>
                </a:solidFill>
                <a:latin typeface="Aptos"/>
              </a:defRPr>
            </a:pPr>
            <a:r>
              <a:t>Prompts, logs, subprocessors, vendor/security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02168" y="4261104"/>
            <a:ext cx="3511296" cy="1207008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48472" y="4453128"/>
            <a:ext cx="3209544" cy="35661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03   Clinical intended 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4946904"/>
            <a:ext cx="3200400" cy="44805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40" b="0">
                <a:solidFill>
                  <a:srgbClr val="B9CAC7"/>
                </a:solidFill>
                <a:latin typeface="Aptos"/>
              </a:defRPr>
            </a:pPr>
            <a:r>
              <a:t>Safety assessment, clinician sign-off, regulatory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" y="5870448"/>
            <a:ext cx="10607040" cy="30175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180" b="0">
                <a:solidFill>
                  <a:srgbClr val="B9CAC7"/>
                </a:solidFill>
                <a:latin typeface="Aptos"/>
              </a:defRPr>
            </a:pPr>
            <a:r>
              <a:t>ChartGround M1–M5 passed local tests; this is not PHI authorization, production certification or real financial settlement.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VALIDATION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A 90-day decision; a 180-day production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These are proposed external customer-validation activities—not work already completed or customer commitments.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679192"/>
            <a:ext cx="2606040" cy="2176272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862072"/>
            <a:ext cx="2295144" cy="26517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D0–30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246120"/>
            <a:ext cx="2286000" cy="34747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7FAF8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721608"/>
            <a:ext cx="2322576" cy="93268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9CAC7"/>
                </a:solidFill>
                <a:latin typeface="Aptos"/>
              </a:defRPr>
            </a:pPr>
            <a:r>
              <a:t>6–8 real buyer / developer interviews; ≥2 repeated costly problems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679192"/>
            <a:ext cx="2606040" cy="2176272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2862072"/>
            <a:ext cx="2295144" cy="26517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D31–60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46120"/>
            <a:ext cx="2286000" cy="34747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7FAF8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721608"/>
            <a:ext cx="2322576" cy="93268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9CAC7"/>
                </a:solidFill>
                <a:latin typeface="Aptos"/>
              </a:defRPr>
            </a:pPr>
            <a:r>
              <a:t>Matched models, human review, workflow frequency and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2679192"/>
            <a:ext cx="2606040" cy="2176272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55664" y="2862072"/>
            <a:ext cx="2295144" cy="26517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D61–90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246120"/>
            <a:ext cx="2286000" cy="34747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7FAF8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21608"/>
            <a:ext cx="2322576" cy="93268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9CAC7"/>
                </a:solidFill>
                <a:latin typeface="Aptos"/>
              </a:defRPr>
            </a:pPr>
            <a:r>
              <a:t>Sponsor, readiness, economic evidence; go / iterate / stop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16567" y="2679192"/>
            <a:ext cx="2606040" cy="2176272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3728" y="2862072"/>
            <a:ext cx="2295144" cy="26517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D90–180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246120"/>
            <a:ext cx="2286000" cy="34747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F7FAF8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3721608"/>
            <a:ext cx="2322576" cy="93268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B9CAC7"/>
                </a:solidFill>
                <a:latin typeface="Aptos"/>
              </a:defRPr>
            </a:pPr>
            <a:r>
              <a:t>Paid production in mature cohorts and sustained non-test usage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" y="5221224"/>
            <a:ext cx="10607040" cy="932688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2" y="5431536"/>
            <a:ext cx="2834640" cy="26517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9AE5F"/>
                </a:solidFill>
                <a:latin typeface="Aptos"/>
              </a:defRPr>
            </a:pPr>
            <a:r>
              <a:t>Current evidence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12463" y="5422392"/>
            <a:ext cx="7287768" cy="39319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50" b="0">
                <a:solidFill>
                  <a:srgbClr val="F7FAF8"/>
                </a:solidFill>
                <a:latin typeface="Aptos"/>
              </a:defRPr>
            </a:pPr>
            <a:r>
              <a:t>20 accounts researched • 0 customer interviews • 0 external design partners • 0 paid production customers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D2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" y="932688"/>
            <a:ext cx="10698480" cy="228600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9AE5F"/>
                </a:solidFill>
                <a:latin typeface="Aptos"/>
              </a:defRPr>
            </a:pPr>
            <a:r>
              <a:t>EXECUTIVE INVESTMENT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16152"/>
            <a:ext cx="10881360" cy="859536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F7FAF8"/>
                </a:solidFill>
                <a:latin typeface="Aptos"/>
              </a:defRPr>
            </a:pPr>
            <a:r>
              <a:t>Authorize a bounded validation effort—not a broad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75688"/>
            <a:ext cx="10652760" cy="25603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50" b="0">
                <a:solidFill>
                  <a:srgbClr val="B9CAC7"/>
                </a:solidFill>
                <a:latin typeface="Aptos"/>
              </a:defRPr>
            </a:pPr>
            <a:r>
              <a:t>An independently developed proposal. Spending, prospective accounts and model performance require external validation.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" y="6519672"/>
            <a:ext cx="10945368" cy="0"/>
          </a:xfrm>
          <a:prstGeom prst="line">
            <a:avLst/>
          </a:prstGeom>
          <a:ln w="8890">
            <a:solidFill>
              <a:srgbClr val="365D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201400" y="6556248"/>
            <a:ext cx="365760" cy="155448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7DBBA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660904"/>
            <a:ext cx="10735056" cy="768096"/>
          </a:xfrm>
          <a:prstGeom prst="roundRect">
            <a:avLst>
              <a:gd name="adj" fmla="val 13000"/>
            </a:avLst>
          </a:prstGeom>
          <a:solidFill>
            <a:srgbClr val="1C403C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2852928"/>
            <a:ext cx="2029968" cy="28346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E9AE5F"/>
                </a:solidFill>
                <a:latin typeface="Aptos"/>
              </a:defRPr>
            </a:pPr>
            <a:r>
              <a:t>GO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834640"/>
            <a:ext cx="8229600" cy="42062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B9CAC7"/>
                </a:solidFill>
                <a:latin typeface="Aptos"/>
              </a:defRPr>
            </a:pPr>
            <a:r>
              <a:t>Independent sponsor, repeat workflow, safe model quality, clear cost-per-accepted-case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611880"/>
            <a:ext cx="10735056" cy="768096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" y="3803904"/>
            <a:ext cx="2029968" cy="28346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ITERATE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3785616"/>
            <a:ext cx="8229600" cy="42062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B9CAC7"/>
                </a:solidFill>
                <a:latin typeface="Aptos"/>
              </a:defRPr>
            </a:pPr>
            <a:r>
              <a:t>Developer interest exists but evaluation, security, or economics remain uncertain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562856"/>
            <a:ext cx="10735056" cy="768096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" y="4754880"/>
            <a:ext cx="2029968" cy="28346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7FAF8"/>
                </a:solidFill>
                <a:latin typeface="Aptos"/>
              </a:defRPr>
            </a:pPr>
            <a:r>
              <a:t>STOP / PIVOT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4736592"/>
            <a:ext cx="8229600" cy="420624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B9CAC7"/>
                </a:solidFill>
                <a:latin typeface="Aptos"/>
              </a:defRPr>
            </a:pPr>
            <a:r>
              <a:t>No differentiated demand, unacceptable clinical risk, or unfavorable sustainable economics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5733288"/>
            <a:ext cx="10698480" cy="420624"/>
          </a:xfrm>
          <a:prstGeom prst="roundRect">
            <a:avLst>
              <a:gd name="adj" fmla="val 13000"/>
            </a:avLst>
          </a:prstGeom>
          <a:solidFill>
            <a:srgbClr val="153936"/>
          </a:solidFill>
          <a:ln w="10795">
            <a:solidFill>
              <a:srgbClr val="36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5824728"/>
            <a:ext cx="10332720" cy="210312"/>
          </a:xfrm>
          <a:prstGeom prst="rect">
            <a:avLst/>
          </a:prstGeom>
          <a:noFill/>
        </p:spPr>
        <p:txBody>
          <a:bodyPr wrap="square" lIns="36576" tIns="13716" rIns="36576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7FAF8"/>
                </a:solidFill>
                <a:latin typeface="Aptos"/>
              </a:defRPr>
            </a:pPr>
            <a:r>
              <a:t>Executive takeaway: one targeted market, explicit unit economics, testable model quality, and defined stop rules.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940</Words>
  <Application>Microsoft Office PowerPoint</Application>
  <PresentationFormat>Widescreen</PresentationFormat>
  <Paragraphs>209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Independent 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ChartGround M6 — Executive Investment Strategy | Market to Risk-Adjusted Decision</dc:title>
  <dc:subject>Independent investment thesis: M6.1–M6.6, including competitive, partner and risk analysis</dc:subject>
  <dc:creator>Independent product strategy case study</dc:creator>
  <cp:keywords>Claude, Anthropic, oncology, clinical workflow ISVs, monetization, paired evaluation, investment gates, scenario analysis</cp:keywords>
  <cp:lastModifiedBy>Vishal Kampani</cp:lastModifiedBy>
  <cp:revision>2</cp:revision>
  <dcterms:created xsi:type="dcterms:W3CDTF">2026-10-29T02:32:53Z</dcterms:created>
  <dcterms:modified xsi:type="dcterms:W3CDTF">2026-10-30T02:05:32Z</dcterms:modified>
</cp:coreProperties>
</file>