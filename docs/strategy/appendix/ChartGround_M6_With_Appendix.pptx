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57" r:id="rId3"/>
    <p:sldId id="274" r:id="rId25"/>
    <p:sldId id="270" r:id="rId21"/>
    <p:sldId id="268" r:id="rId19"/>
    <p:sldId id="269" r:id="rId20"/>
    <p:sldId id="260" r:id="rId6"/>
    <p:sldId id="266" r:id="rId17"/>
    <p:sldId id="275" r:id="rId26"/>
    <p:sldId id="271" r:id="rId22"/>
    <p:sldId id="276" r:id="rId27"/>
    <p:sldId id="262" r:id="rId8"/>
    <p:sldId id="263" r:id="rId9"/>
    <p:sldId id="264" r:id="rId10"/>
    <p:sldId id="267" r:id="rId18"/>
    <p:sldId id="265" r:id="rId11"/>
    <p:sldId id="272" r:id="rId23"/>
    <p:sldId id="277" r:id="rId28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6" Type="http://schemas.openxmlformats.org/officeDocument/2006/relationships/slide" Target="slides/slide10.xml"/><Relationship Id="rId8" Type="http://schemas.openxmlformats.org/officeDocument/2006/relationships/slide" Target="slides/slide16.xml"/><Relationship Id="rId9" Type="http://schemas.openxmlformats.org/officeDocument/2006/relationships/slide" Target="slides/slide17.xml"/><Relationship Id="rId10" Type="http://schemas.openxmlformats.org/officeDocument/2006/relationships/slide" Target="slides/slide18.xml"/><Relationship Id="rId11" Type="http://schemas.openxmlformats.org/officeDocument/2006/relationships/slide" Target="slides/slide2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9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6.xml"/><Relationship Id="rId22" Type="http://schemas.openxmlformats.org/officeDocument/2006/relationships/slide" Target="slides/slide14.xml"/><Relationship Id="rId23" Type="http://schemas.openxmlformats.org/officeDocument/2006/relationships/slide" Target="slides/slide21.xml"/><Relationship Id="rId25" Type="http://schemas.openxmlformats.org/officeDocument/2006/relationships/slide" Target="slides/slide5.xml"/><Relationship Id="rId26" Type="http://schemas.openxmlformats.org/officeDocument/2006/relationships/slide" Target="slides/slide13.xml"/><Relationship Id="rId27" Type="http://schemas.openxmlformats.org/officeDocument/2006/relationships/slide" Target="slides/slide15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hyperlink" Target="https://www.anthropic.com/news/healthcare-life-sciences" TargetMode="External"/><Relationship Id="rId2" Type="http://schemas.openxmlformats.org/officeDocument/2006/relationships/hyperlink" Target="https://www.anthropic.com/news/claude-partner-network" TargetMode="External"/><Relationship Id="rId3" Type="http://schemas.openxmlformats.org/officeDocument/2006/relationships/hyperlink" Target="https://github.com/anthropics/healthcare" TargetMode="External"/><Relationship Id="rId4" Type="http://schemas.openxmlformats.org/officeDocument/2006/relationships/hyperlink" Target="https://platform.claude.com/docs/en/about-claude/pricing" TargetMode="External"/><Relationship Id="rId5" Type="http://schemas.openxmlformats.org/officeDocument/2006/relationships/hyperlink" Target="https://platform.claude.com/docs/en/manage-claude/usage-cost-api" TargetMode="External"/><Relationship Id="rId6" Type="http://schemas.openxmlformats.org/officeDocument/2006/relationships/hyperlink" Target="https://support.claude.com/en/articles/8114513-business-associate-agreements-baa-for-commercial-customers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navigatingcare.com/" TargetMode="External"/><Relationship Id="rId3" Type="http://schemas.openxmlformats.org/officeDocument/2006/relationships/hyperlink" Target="https://canopycare.us/blog/illinois-cancercare-partners-with-canopy" TargetMode="External"/><Relationship Id="rId4" Type="http://schemas.openxmlformats.org/officeDocument/2006/relationships/hyperlink" Target="https://oncohealth.us/oncology-management/" TargetMode="External"/><Relationship Id="rId5" Type="http://schemas.openxmlformats.org/officeDocument/2006/relationships/hyperlink" Target="https://candidhealth.com/blog/flatiron-partnership" TargetMode="External"/><Relationship Id="rId6" Type="http://schemas.openxmlformats.org/officeDocument/2006/relationships/hyperlink" Target="https://www.tennr.com/solutions/health-systems" TargetMode="External"/><Relationship Id="rId7" Type="http://schemas.openxmlformats.org/officeDocument/2006/relationships/hyperlink" Target="https://www.stedi.com/docs/healthcare" TargetMode="External"/><Relationship Id="rId8" Type="http://schemas.openxmlformats.org/officeDocument/2006/relationships/hyperlink" Target="https://flatiron.com/oncology/oncology-ehr" TargetMode="External"/><Relationship Id="rId9" Type="http://schemas.openxmlformats.org/officeDocument/2006/relationships/hyperlink" Target="https://www.raysearchlabs.com/media/press-releases/2026/raysearch-releases-raycare-v2026/" TargetMode="External"/><Relationship Id="rId10" Type="http://schemas.openxmlformats.org/officeDocument/2006/relationships/hyperlink" Target="https://www.elekta.com/products/oncology-informatics/elekta-one/oncology-care/" TargetMode="External"/><Relationship Id="rId11" Type="http://schemas.openxmlformats.org/officeDocument/2006/relationships/hyperlink" Target="https://cancercare.siemens-healthineers.com/products/software/digital-oncology/oncology-management-systems/aria-core" TargetMode="External"/><Relationship Id="rId12" Type="http://schemas.openxmlformats.org/officeDocument/2006/relationships/hyperlink" Target="https://support.claude.com/en/articles/8114513-business-associate-agreements-baa-for-commercial-customers" TargetMode="External"/><Relationship Id="rId13" Type="http://schemas.openxmlformats.org/officeDocument/2006/relationships/hyperlink" Target="https://www.fda.gov/regulatory-information/search-fda-guidance-documents/clinical-decision-support-software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platform.claude.com/docs/en/build-with-claude/citations" TargetMode="External"/><Relationship Id="rId3" Type="http://schemas.openxmlformats.org/officeDocument/2006/relationships/hyperlink" Target="https://docs.aws.amazon.com/claude-platform/latest/userguide/cpa-vs-bedrock.html" TargetMode="External"/><Relationship Id="rId4" Type="http://schemas.openxmlformats.org/officeDocument/2006/relationships/hyperlink" Target="https://support.claude.com/en/articles/8114513-business-associate-agreements-baa-for-commercial-customers" TargetMode="External"/><Relationship Id="rId5" Type="http://schemas.openxmlformats.org/officeDocument/2006/relationships/hyperlink" Target="https://www.anthropic.com/news/tcs-anthropic-partnership" TargetMode="External"/><Relationship Id="rId6" Type="http://schemas.openxmlformats.org/officeDocument/2006/relationships/hyperlink" Target="https://www.nature.com/articles/s41591-026-04431-5" TargetMode="External"/><Relationship Id="rId7" Type="http://schemas.openxmlformats.org/officeDocument/2006/relationships/hyperlink" Target="https://learn.microsoft.com/en-us/azure/ai-foundry/responsible-ai/claude-models/data-privacy" TargetMode="External"/><Relationship Id="rId8" Type="http://schemas.openxmlformats.org/officeDocument/2006/relationships/hyperlink" Target="https://cloud.google.com/blog/products/ai-machine-learning/expanding-claude-availability-on-google-cloud/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5950"/>
          </a:solidFill>
          <a:ln w="12700">
            <a:solidFill>
              <a:srgbClr val="22595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931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30" b="1">
                <a:solidFill>
                  <a:srgbClr val="225950"/>
                </a:solidFill>
                <a:latin typeface="Aptos"/>
              </a:rPr>
              <a:t>01 / WHERE TO PLAY</a:t>
            </a:r>
          </a:p>
        </p:txBody>
      </p:sp>
      <p:sp>
        <p:nvSpPr>
          <p:cNvPr id="4" name="Text 2"/>
          <p:cNvSpPr/>
          <p:nvPr/>
        </p:nvSpPr>
        <p:spPr>
          <a:xfrm>
            <a:off x="59436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2B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Lead with clinical workflow ISVs; oncology is the first use case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594360" y="13441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70">
                <a:solidFill>
                  <a:srgbClr val="65716E"/>
                </a:solidFill>
                <a:latin typeface="Aptos"/>
              </a:rPr>
              <a:t>M6.1 ranks the entry segment; M6.4 identifies six discovery hypotheses and separates buyers from channels.</a:t>
            </a:r>
          </a:p>
        </p:txBody>
      </p:sp>
      <p:sp>
        <p:nvSpPr>
          <p:cNvPr id="6" name="Shape 4"/>
          <p:cNvSpPr/>
          <p:nvPr/>
        </p:nvSpPr>
        <p:spPr>
          <a:xfrm>
            <a:off x="594360" y="6547104"/>
            <a:ext cx="11009376" cy="0"/>
          </a:xfrm>
          <a:prstGeom prst="line">
            <a:avLst/>
          </a:prstGeom>
          <a:noFill/>
          <a:ln w="12700">
            <a:solidFill>
              <a:srgbClr val="DCE2DD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663854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spc="70" kern="0" dirty="0">
                <a:solidFill>
                  <a:srgbClr val="657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CHARTGROUND  /  M6    •    INDEPENDENT STRATEGY HYPOTHESIS</a:t>
            </a:r>
            <a:endParaRPr lang="en-US" sz="810" dirty="0"/>
          </a:p>
        </p:txBody>
      </p:sp>
      <p:sp>
        <p:nvSpPr>
          <p:cNvPr id="8" name="Text 6"/>
          <p:cNvSpPr/>
          <p:nvPr/>
        </p:nvSpPr>
        <p:spPr>
          <a:xfrm>
            <a:off x="9646920" y="6638544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810">
                <a:solidFill>
                  <a:srgbClr val="65716E"/>
                </a:solidFill>
                <a:latin typeface="Aptos"/>
              </a:rPr>
              <a:t>OCT 2026     /     02</a:t>
            </a:r>
          </a:p>
        </p:txBody>
      </p:sp>
      <p:sp>
        <p:nvSpPr>
          <p:cNvPr id="9" name="Shape 7"/>
          <p:cNvSpPr/>
          <p:nvPr/>
        </p:nvSpPr>
        <p:spPr>
          <a:xfrm>
            <a:off x="603504" y="1947672"/>
            <a:ext cx="2587752" cy="429768"/>
          </a:xfrm>
          <a:prstGeom prst="roundRect">
            <a:avLst>
              <a:gd name="adj" fmla="val 17021"/>
            </a:avLst>
          </a:prstGeom>
          <a:solidFill>
            <a:srgbClr val="102828"/>
          </a:solidFill>
          <a:ln w="10160">
            <a:solidFill>
              <a:srgbClr val="10282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94944" y="2057400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/ SEGMENT</a:t>
            </a:r>
            <a:endParaRPr lang="en-US" sz="925" dirty="0"/>
          </a:p>
        </p:txBody>
      </p:sp>
      <p:sp>
        <p:nvSpPr>
          <p:cNvPr id="11" name="Shape 9"/>
          <p:cNvSpPr/>
          <p:nvPr/>
        </p:nvSpPr>
        <p:spPr>
          <a:xfrm>
            <a:off x="3337560" y="1947672"/>
            <a:ext cx="1682496" cy="429768"/>
          </a:xfrm>
          <a:prstGeom prst="roundRect">
            <a:avLst>
              <a:gd name="adj" fmla="val 17021"/>
            </a:avLst>
          </a:prstGeom>
          <a:solidFill>
            <a:srgbClr val="102828"/>
          </a:solidFill>
          <a:ln w="10160">
            <a:solidFill>
              <a:srgbClr val="10282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429000" y="205740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/ ROLE</a:t>
            </a:r>
            <a:endParaRPr lang="en-US" sz="925" dirty="0"/>
          </a:p>
        </p:txBody>
      </p:sp>
      <p:sp>
        <p:nvSpPr>
          <p:cNvPr id="13" name="Shape 11"/>
          <p:cNvSpPr/>
          <p:nvPr/>
        </p:nvSpPr>
        <p:spPr>
          <a:xfrm>
            <a:off x="5166360" y="1947672"/>
            <a:ext cx="1700784" cy="429768"/>
          </a:xfrm>
          <a:prstGeom prst="roundRect">
            <a:avLst>
              <a:gd name="adj" fmla="val 17021"/>
            </a:avLst>
          </a:prstGeom>
          <a:solidFill>
            <a:srgbClr val="102828"/>
          </a:solidFill>
          <a:ln w="10160">
            <a:solidFill>
              <a:srgbClr val="10282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257800" y="2057400"/>
            <a:ext cx="1527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 UPSIDE</a:t>
            </a:r>
            <a:endParaRPr lang="en-US" sz="925" dirty="0"/>
          </a:p>
        </p:txBody>
      </p:sp>
      <p:sp>
        <p:nvSpPr>
          <p:cNvPr id="15" name="Shape 13"/>
          <p:cNvSpPr/>
          <p:nvPr/>
        </p:nvSpPr>
        <p:spPr>
          <a:xfrm>
            <a:off x="7013448" y="1947672"/>
            <a:ext cx="1764792" cy="429768"/>
          </a:xfrm>
          <a:prstGeom prst="roundRect">
            <a:avLst>
              <a:gd name="adj" fmla="val 17021"/>
            </a:avLst>
          </a:prstGeom>
          <a:solidFill>
            <a:srgbClr val="102828"/>
          </a:solidFill>
          <a:ln w="10160">
            <a:solidFill>
              <a:srgbClr val="10282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104888" y="2057400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FRICTION</a:t>
            </a:r>
            <a:endParaRPr lang="en-US" sz="925" dirty="0"/>
          </a:p>
        </p:txBody>
      </p:sp>
      <p:sp>
        <p:nvSpPr>
          <p:cNvPr id="17" name="Shape 15"/>
          <p:cNvSpPr/>
          <p:nvPr/>
        </p:nvSpPr>
        <p:spPr>
          <a:xfrm>
            <a:off x="8924544" y="1947672"/>
            <a:ext cx="2615184" cy="429768"/>
          </a:xfrm>
          <a:prstGeom prst="roundRect">
            <a:avLst>
              <a:gd name="adj" fmla="val 17021"/>
            </a:avLst>
          </a:prstGeom>
          <a:solidFill>
            <a:srgbClr val="102828"/>
          </a:solidFill>
          <a:ln w="10160">
            <a:solidFill>
              <a:srgbClr val="10282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015984" y="2057400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</a:t>
            </a:r>
            <a:endParaRPr lang="en-US" sz="925" dirty="0"/>
          </a:p>
        </p:txBody>
      </p:sp>
      <p:sp>
        <p:nvSpPr>
          <p:cNvPr id="19" name="Shape 17"/>
          <p:cNvSpPr/>
          <p:nvPr/>
        </p:nvSpPr>
        <p:spPr>
          <a:xfrm>
            <a:off x="603504" y="2487168"/>
            <a:ext cx="10972800" cy="557784"/>
          </a:xfrm>
          <a:prstGeom prst="roundRect">
            <a:avLst>
              <a:gd name="adj" fmla="val 13115"/>
            </a:avLst>
          </a:prstGeom>
          <a:solidFill>
            <a:srgbClr val="DFEEE6"/>
          </a:solidFill>
          <a:ln w="10160">
            <a:solidFill>
              <a:srgbClr val="B7D0C1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22376" y="25877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70" b="1" dirty="0">
                <a:solidFill>
                  <a:srgbClr val="18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workflow ISVs</a:t>
            </a:r>
            <a:endParaRPr lang="en-US" sz="1310" dirty="0"/>
          </a:p>
        </p:txBody>
      </p:sp>
      <p:sp>
        <p:nvSpPr>
          <p:cNvPr id="21" name="Text 19"/>
          <p:cNvSpPr/>
          <p:nvPr/>
        </p:nvSpPr>
        <p:spPr>
          <a:xfrm>
            <a:off x="3456432" y="2587752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dirty="0">
                <a:solidFill>
                  <a:srgbClr val="18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3.90 / 5</a:t>
            </a:r>
            <a:endParaRPr lang="en-US" sz="1180" dirty="0"/>
          </a:p>
        </p:txBody>
      </p:sp>
      <p:sp>
        <p:nvSpPr>
          <p:cNvPr id="22" name="Text 20"/>
          <p:cNvSpPr/>
          <p:nvPr/>
        </p:nvSpPr>
        <p:spPr>
          <a:xfrm>
            <a:off x="5285232" y="2587752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8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Recurring consumption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7132320" y="25877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dirty="0">
                <a:solidFill>
                  <a:srgbClr val="18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Moderate</a:t>
            </a:r>
            <a:endParaRPr lang="en-US" sz="1180" dirty="0"/>
          </a:p>
        </p:txBody>
      </p:sp>
      <p:sp>
        <p:nvSpPr>
          <p:cNvPr id="24" name="Text 22"/>
          <p:cNvSpPr/>
          <p:nvPr/>
        </p:nvSpPr>
        <p:spPr>
          <a:xfrm>
            <a:off x="9043416" y="2587752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9" b="1" dirty="0">
                <a:solidFill>
                  <a:srgbClr val="2259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MARKET</a:t>
            </a:r>
            <a:endParaRPr lang="en-US" sz="1040" dirty="0"/>
          </a:p>
        </p:txBody>
      </p:sp>
      <p:sp>
        <p:nvSpPr>
          <p:cNvPr id="25" name="Shape 23"/>
          <p:cNvSpPr/>
          <p:nvPr/>
        </p:nvSpPr>
        <p:spPr>
          <a:xfrm>
            <a:off x="603504" y="3099816"/>
            <a:ext cx="10972800" cy="557784"/>
          </a:xfrm>
          <a:prstGeom prst="roundRect">
            <a:avLst>
              <a:gd name="adj" fmla="val 13115"/>
            </a:avLst>
          </a:prstGeom>
          <a:solidFill>
            <a:srgbClr val="EEF4EF"/>
          </a:solidFill>
          <a:ln w="10160">
            <a:solidFill>
              <a:srgbClr val="B7D0C1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22376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70" b="1" dirty="0">
                <a:solidFill>
                  <a:srgbClr val="18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↳ Oncology use case</a:t>
            </a:r>
            <a:endParaRPr lang="en-US" sz="1310" dirty="0"/>
          </a:p>
        </p:txBody>
      </p:sp>
      <p:sp>
        <p:nvSpPr>
          <p:cNvPr id="27" name="Text 25"/>
          <p:cNvSpPr/>
          <p:nvPr/>
        </p:nvSpPr>
        <p:spPr>
          <a:xfrm>
            <a:off x="3456432" y="320040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Within ISVs</a:t>
            </a:r>
            <a:endParaRPr lang="en-US" sz="1180" dirty="0"/>
          </a:p>
        </p:txBody>
      </p:sp>
      <p:sp>
        <p:nvSpPr>
          <p:cNvPr id="28" name="Text 26"/>
          <p:cNvSpPr/>
          <p:nvPr/>
        </p:nvSpPr>
        <p:spPr>
          <a:xfrm>
            <a:off x="5285232" y="3200400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Focused use case</a:t>
            </a:r>
            <a:endParaRPr lang="en-US" sz="1180" dirty="0"/>
          </a:p>
        </p:txBody>
      </p:sp>
      <p:sp>
        <p:nvSpPr>
          <p:cNvPr id="29" name="Text 27"/>
          <p:cNvSpPr/>
          <p:nvPr/>
        </p:nvSpPr>
        <p:spPr>
          <a:xfrm>
            <a:off x="7132320" y="3200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validation</a:t>
            </a:r>
            <a:endParaRPr lang="en-US" sz="1180" dirty="0"/>
          </a:p>
        </p:txBody>
      </p:sp>
      <p:sp>
        <p:nvSpPr>
          <p:cNvPr id="30" name="Text 28"/>
          <p:cNvSpPr/>
          <p:nvPr/>
        </p:nvSpPr>
        <p:spPr>
          <a:xfrm>
            <a:off x="9043416" y="320040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57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WORKFLOW</a:t>
            </a:r>
            <a:endParaRPr lang="en-US" sz="1040" dirty="0"/>
          </a:p>
        </p:txBody>
      </p:sp>
      <p:sp>
        <p:nvSpPr>
          <p:cNvPr id="31" name="Shape 29"/>
          <p:cNvSpPr/>
          <p:nvPr/>
        </p:nvSpPr>
        <p:spPr>
          <a:xfrm>
            <a:off x="603504" y="3712464"/>
            <a:ext cx="10972800" cy="557784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 w="10160">
            <a:solidFill>
              <a:srgbClr val="DCE2DD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22376" y="38130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70" b="1" dirty="0">
                <a:solidFill>
                  <a:srgbClr val="18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Payer platforms</a:t>
            </a:r>
            <a:endParaRPr lang="en-US" sz="1310" dirty="0"/>
          </a:p>
        </p:txBody>
      </p:sp>
      <p:sp>
        <p:nvSpPr>
          <p:cNvPr id="33" name="Text 31"/>
          <p:cNvSpPr/>
          <p:nvPr/>
        </p:nvSpPr>
        <p:spPr>
          <a:xfrm>
            <a:off x="3456432" y="3813048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dirty="0">
                <a:solidFill>
                  <a:srgbClr val="18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3.65 / 5</a:t>
            </a:r>
            <a:endParaRPr lang="en-US" sz="1180" dirty="0"/>
          </a:p>
        </p:txBody>
      </p:sp>
      <p:sp>
        <p:nvSpPr>
          <p:cNvPr id="34" name="Text 32"/>
          <p:cNvSpPr/>
          <p:nvPr/>
        </p:nvSpPr>
        <p:spPr>
          <a:xfrm>
            <a:off x="5285232" y="3813048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8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Potentially high</a:t>
            </a:r>
            <a:endParaRPr lang="en-US" sz="1180" dirty="0"/>
          </a:p>
        </p:txBody>
      </p:sp>
      <p:sp>
        <p:nvSpPr>
          <p:cNvPr id="35" name="Text 33"/>
          <p:cNvSpPr/>
          <p:nvPr/>
        </p:nvSpPr>
        <p:spPr>
          <a:xfrm>
            <a:off x="7132320" y="38130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dirty="0">
                <a:solidFill>
                  <a:srgbClr val="18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1180" dirty="0"/>
          </a:p>
        </p:txBody>
      </p:sp>
      <p:sp>
        <p:nvSpPr>
          <p:cNvPr id="36" name="Text 34"/>
          <p:cNvSpPr/>
          <p:nvPr/>
        </p:nvSpPr>
        <p:spPr>
          <a:xfrm>
            <a:off x="9043416" y="3813048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9" b="1" dirty="0">
                <a:solidFill>
                  <a:srgbClr val="657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EXPANSION OPTION</a:t>
            </a:r>
            <a:endParaRPr lang="en-US" sz="1040" dirty="0"/>
          </a:p>
        </p:txBody>
      </p:sp>
      <p:sp>
        <p:nvSpPr>
          <p:cNvPr id="37" name="Shape 35"/>
          <p:cNvSpPr/>
          <p:nvPr/>
        </p:nvSpPr>
        <p:spPr>
          <a:xfrm>
            <a:off x="603504" y="4325112"/>
            <a:ext cx="10972800" cy="557784"/>
          </a:xfrm>
          <a:prstGeom prst="roundRect">
            <a:avLst>
              <a:gd name="adj" fmla="val 13115"/>
            </a:avLst>
          </a:prstGeom>
          <a:solidFill>
            <a:srgbClr val="F0F2EF"/>
          </a:solidFill>
          <a:ln w="10160">
            <a:solidFill>
              <a:srgbClr val="DCE2DD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722376" y="44256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70" b="1" dirty="0">
                <a:solidFill>
                  <a:srgbClr val="18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EHR incumbents</a:t>
            </a:r>
            <a:endParaRPr lang="en-US" sz="1310" dirty="0"/>
          </a:p>
        </p:txBody>
      </p:sp>
      <p:sp>
        <p:nvSpPr>
          <p:cNvPr id="39" name="Text 37"/>
          <p:cNvSpPr/>
          <p:nvPr/>
        </p:nvSpPr>
        <p:spPr>
          <a:xfrm>
            <a:off x="3456432" y="4425696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dirty="0">
                <a:solidFill>
                  <a:srgbClr val="18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3.30 / 5</a:t>
            </a:r>
            <a:endParaRPr lang="en-US" sz="1180" dirty="0"/>
          </a:p>
        </p:txBody>
      </p:sp>
      <p:sp>
        <p:nvSpPr>
          <p:cNvPr id="40" name="Text 38"/>
          <p:cNvSpPr/>
          <p:nvPr/>
        </p:nvSpPr>
        <p:spPr>
          <a:xfrm>
            <a:off x="5285232" y="4425696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8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Distribution leverage</a:t>
            </a:r>
            <a:endParaRPr lang="en-US" sz="1180" dirty="0"/>
          </a:p>
        </p:txBody>
      </p:sp>
      <p:sp>
        <p:nvSpPr>
          <p:cNvPr id="41" name="Text 39"/>
          <p:cNvSpPr/>
          <p:nvPr/>
        </p:nvSpPr>
        <p:spPr>
          <a:xfrm>
            <a:off x="7132320" y="442569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dirty="0">
                <a:solidFill>
                  <a:srgbClr val="18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Very high</a:t>
            </a:r>
            <a:endParaRPr lang="en-US" sz="1180" dirty="0"/>
          </a:p>
        </p:txBody>
      </p:sp>
      <p:sp>
        <p:nvSpPr>
          <p:cNvPr id="42" name="Text 40"/>
          <p:cNvSpPr/>
          <p:nvPr/>
        </p:nvSpPr>
        <p:spPr>
          <a:xfrm>
            <a:off x="9043416" y="4425696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9" b="1" dirty="0">
                <a:solidFill>
                  <a:srgbClr val="657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PARTNER, NOT ENTRY</a:t>
            </a:r>
            <a:endParaRPr lang="en-US" sz="1040" dirty="0"/>
          </a:p>
        </p:txBody>
      </p:sp>
      <p:sp>
        <p:nvSpPr>
          <p:cNvPr id="43" name="Shape 41"/>
          <p:cNvSpPr/>
          <p:nvPr/>
        </p:nvSpPr>
        <p:spPr>
          <a:xfrm>
            <a:off x="603504" y="4937760"/>
            <a:ext cx="10972800" cy="557784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 w="10160">
            <a:solidFill>
              <a:srgbClr val="DCE2DD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722376" y="50383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70" b="1" dirty="0">
                <a:solidFill>
                  <a:srgbClr val="18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AI startups</a:t>
            </a:r>
            <a:endParaRPr lang="en-US" sz="1310" dirty="0"/>
          </a:p>
        </p:txBody>
      </p:sp>
      <p:sp>
        <p:nvSpPr>
          <p:cNvPr id="45" name="Text 43"/>
          <p:cNvSpPr/>
          <p:nvPr/>
        </p:nvSpPr>
        <p:spPr>
          <a:xfrm>
            <a:off x="3456432" y="5038344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dirty="0">
                <a:solidFill>
                  <a:srgbClr val="18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3.00 / 5</a:t>
            </a:r>
            <a:endParaRPr lang="en-US" sz="1180" dirty="0"/>
          </a:p>
        </p:txBody>
      </p:sp>
      <p:sp>
        <p:nvSpPr>
          <p:cNvPr id="46" name="Text 44"/>
          <p:cNvSpPr/>
          <p:nvPr/>
        </p:nvSpPr>
        <p:spPr>
          <a:xfrm>
            <a:off x="5285232" y="5038344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8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Earlier / variable</a:t>
            </a:r>
            <a:endParaRPr lang="en-US" sz="1180" dirty="0"/>
          </a:p>
        </p:txBody>
      </p:sp>
      <p:sp>
        <p:nvSpPr>
          <p:cNvPr id="47" name="Text 45"/>
          <p:cNvSpPr/>
          <p:nvPr/>
        </p:nvSpPr>
        <p:spPr>
          <a:xfrm>
            <a:off x="7132320" y="503834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dirty="0">
                <a:solidFill>
                  <a:srgbClr val="18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</a:t>
            </a:r>
            <a:endParaRPr lang="en-US" sz="1180" dirty="0"/>
          </a:p>
        </p:txBody>
      </p:sp>
      <p:sp>
        <p:nvSpPr>
          <p:cNvPr id="48" name="Text 46"/>
          <p:cNvSpPr/>
          <p:nvPr/>
        </p:nvSpPr>
        <p:spPr>
          <a:xfrm>
            <a:off x="9043416" y="5038344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9" b="1" dirty="0">
                <a:solidFill>
                  <a:srgbClr val="657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 FUNNEL</a:t>
            </a:r>
            <a:endParaRPr lang="en-US" sz="1040" dirty="0"/>
          </a:p>
        </p:txBody>
      </p:sp>
      <p:sp>
        <p:nvSpPr>
          <p:cNvPr id="49" name="Shape 47"/>
          <p:cNvSpPr/>
          <p:nvPr/>
        </p:nvSpPr>
        <p:spPr>
          <a:xfrm>
            <a:off x="603504" y="5724144"/>
            <a:ext cx="10991088" cy="521208"/>
          </a:xfrm>
          <a:prstGeom prst="roundRect">
            <a:avLst>
              <a:gd name="adj" fmla="val 14035"/>
            </a:avLst>
          </a:prstGeom>
          <a:solidFill>
            <a:srgbClr val="FFF2E1"/>
          </a:solidFill>
          <a:ln w="10160">
            <a:solidFill>
              <a:srgbClr val="E9C78E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786384" y="5815584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ISVs?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2267712" y="5815584"/>
            <a:ext cx="8942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8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 once, expand across provider customers. Oncology is the specialty wedge—not a competing market.</a:t>
            </a:r>
            <a:endParaRPr lang="en-US" sz="1280" dirty="0"/>
          </a:p>
        </p:txBody>
      </p:sp>
      <p:sp>
        <p:nvSpPr>
          <p:cNvPr id="52" name="Text 50"/>
          <p:cNvSpPr/>
          <p:nvPr/>
        </p:nvSpPr>
        <p:spPr>
          <a:xfrm>
            <a:off x="640080" y="6291072"/>
            <a:ext cx="10698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57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M6.1 analyst scores (not observed demand). KLAS [7]: ambient note competition; ONC [8]: top 3 EHR developers served &gt;80% of non-federal acute-care hospitals in 2024.</a:t>
            </a:r>
            <a:endParaRPr lang="en-US" sz="91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8872"/>
          </a:xfrm>
          <a:prstGeom prst="rect">
            <a:avLst/>
          </a:prstGeom>
          <a:solidFill>
            <a:srgbClr val="225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930" b="1">
                <a:solidFill>
                  <a:srgbClr val="225950"/>
                </a:solidFill>
                <a:latin typeface="Aptos"/>
              </a:rPr>
              <a:t>04 / BLINDED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972800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2B2B"/>
                </a:solidFill>
                <a:latin typeface="Aptos Display"/>
              </a:rPr>
              <a:t>Make model selection a measured product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62456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65716E"/>
                </a:solidFill>
                <a:latin typeface="Aptos"/>
              </a:rPr>
              <a:t>Prespecify the protocol; evaluate the same oncology evidence-synthesis workload on all candidate platforms.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47104"/>
            <a:ext cx="11009376" cy="14630"/>
          </a:xfrm>
          <a:prstGeom prst="rect">
            <a:avLst/>
          </a:prstGeom>
          <a:solidFill>
            <a:srgbClr val="CFD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638544"/>
            <a:ext cx="7589520" cy="155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65716E"/>
                </a:solidFill>
                <a:latin typeface="Aptos"/>
              </a:rPr>
              <a:t>CHARTGROUND  /  M6  •  INDEPENDENT EXECUTIVE INVESTMENT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6064" y="6638544"/>
            <a:ext cx="1920240" cy="155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810" b="0">
                <a:solidFill>
                  <a:srgbClr val="65716E"/>
                </a:solidFill>
                <a:latin typeface="Aptos"/>
              </a:rPr>
              <a:t>OCT 2026     /     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" y="1911095"/>
            <a:ext cx="10972800" cy="484632"/>
          </a:xfrm>
          <a:prstGeom prst="roundRect">
            <a:avLst>
              <a:gd name="adj" fmla="val 7500"/>
            </a:avLst>
          </a:prstGeom>
          <a:solidFill>
            <a:srgbClr val="10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066543"/>
            <a:ext cx="1051560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FFFFFF"/>
                </a:solidFill>
                <a:latin typeface="Aptos"/>
              </a:rPr>
              <a:t>SAME DEIDENTIFIED / SYNTHETIC CASES  →  MATCHED PROMPTS + TOOLS  →  BLINDED REVIEWERS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" y="2633472"/>
            <a:ext cx="2615184" cy="59436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795">
            <a:solidFill>
              <a:srgbClr val="CF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2834640"/>
            <a:ext cx="2276856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225950"/>
                </a:solidFill>
                <a:latin typeface="Aptos"/>
              </a:rPr>
              <a:t>CLAUDE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38144" y="2633472"/>
            <a:ext cx="2615184" cy="59436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795">
            <a:solidFill>
              <a:srgbClr val="CF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79" y="2834640"/>
            <a:ext cx="2276856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225950"/>
                </a:solidFill>
                <a:latin typeface="Aptos"/>
              </a:rPr>
              <a:t>GPT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2633472"/>
            <a:ext cx="2615184" cy="59436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795">
            <a:solidFill>
              <a:srgbClr val="CF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2834640"/>
            <a:ext cx="2276856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225950"/>
                </a:solidFill>
                <a:latin typeface="Aptos"/>
              </a:rPr>
              <a:t>GEMINI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59" y="2633472"/>
            <a:ext cx="2615184" cy="59436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795">
            <a:solidFill>
              <a:srgbClr val="CF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5" y="2834640"/>
            <a:ext cx="2276856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225950"/>
                </a:solidFill>
                <a:latin typeface="Aptos"/>
              </a:rPr>
              <a:t>NO-AI BASELINE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66160"/>
            <a:ext cx="3657600" cy="1920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5950"/>
                </a:solidFill>
                <a:latin typeface="Aptos"/>
              </a:rPr>
              <a:t>WHAT WE SCORE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" y="3895344"/>
            <a:ext cx="5376672" cy="621792"/>
          </a:xfrm>
          <a:prstGeom prst="roundRect">
            <a:avLst>
              <a:gd name="adj" fmla="val 7500"/>
            </a:avLst>
          </a:prstGeom>
          <a:solidFill>
            <a:srgbClr val="EF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014215"/>
            <a:ext cx="1170432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25950"/>
                </a:solidFill>
                <a:latin typeface="Aptos"/>
              </a:rPr>
              <a:t>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48256" y="3977639"/>
            <a:ext cx="3822191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82B2B"/>
                </a:solidFill>
                <a:latin typeface="Aptos"/>
              </a:rPr>
              <a:t>Supported claim rate; citation validity; contradictory information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895344"/>
            <a:ext cx="5376672" cy="621792"/>
          </a:xfrm>
          <a:prstGeom prst="roundRect">
            <a:avLst>
              <a:gd name="adj" fmla="val 7500"/>
            </a:avLst>
          </a:prstGeom>
          <a:solidFill>
            <a:srgbClr val="EF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4014215"/>
            <a:ext cx="1170432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25950"/>
                </a:solidFill>
                <a:latin typeface="Aptos"/>
              </a:rPr>
              <a:t>Clinical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3977639"/>
            <a:ext cx="3822191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82B2B"/>
                </a:solidFill>
                <a:latin typeface="Aptos"/>
              </a:rPr>
              <a:t>High-severity error frequency; abstention and escalation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" y="4626864"/>
            <a:ext cx="5376672" cy="621792"/>
          </a:xfrm>
          <a:prstGeom prst="roundRect">
            <a:avLst>
              <a:gd name="adj" fmla="val 7500"/>
            </a:avLst>
          </a:prstGeom>
          <a:solidFill>
            <a:srgbClr val="EF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745736"/>
            <a:ext cx="1170432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25950"/>
                </a:solidFill>
                <a:latin typeface="Aptos"/>
              </a:rPr>
              <a:t>Workflow ROI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48256" y="4709159"/>
            <a:ext cx="3822191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82B2B"/>
                </a:solidFill>
                <a:latin typeface="Aptos"/>
              </a:rPr>
              <a:t>Clinician review minutes; accepted-case rate; cost per accepted case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626864"/>
            <a:ext cx="5376672" cy="621792"/>
          </a:xfrm>
          <a:prstGeom prst="roundRect">
            <a:avLst>
              <a:gd name="adj" fmla="val 7500"/>
            </a:avLst>
          </a:prstGeom>
          <a:solidFill>
            <a:srgbClr val="EF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4745736"/>
            <a:ext cx="1170432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25950"/>
                </a:solidFill>
                <a:latin typeface="Aptos"/>
              </a:rPr>
              <a:t>Platform quality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4709159"/>
            <a:ext cx="3822191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82B2B"/>
                </a:solidFill>
                <a:latin typeface="Aptos"/>
              </a:rPr>
              <a:t>Latency, retries, tokens, citation/JSON workaround overhead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705856"/>
            <a:ext cx="10954512" cy="493776"/>
          </a:xfrm>
          <a:prstGeom prst="roundRect">
            <a:avLst>
              <a:gd name="adj" fmla="val 7500"/>
            </a:avLst>
          </a:prstGeom>
          <a:solidFill>
            <a:srgbClr val="FCF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" y="5852160"/>
            <a:ext cx="1225296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2573F"/>
                </a:solidFill>
                <a:latin typeface="Aptos"/>
              </a:rPr>
              <a:t>GO ONLY WHEN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21408" y="5824728"/>
            <a:ext cx="9162288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182B2B"/>
                </a:solidFill>
                <a:latin typeface="Aptos"/>
              </a:rPr>
              <a:t>Pre-registered safety, evidence quality and total accepted-workflow economics are met; otherwise iterate or stop.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8872"/>
          </a:xfrm>
          <a:prstGeom prst="rect">
            <a:avLst/>
          </a:prstGeom>
          <a:solidFill>
            <a:srgbClr val="225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05840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930" b="1">
                <a:solidFill>
                  <a:srgbClr val="225950"/>
                </a:solidFill>
                <a:latin typeface="Aptos"/>
              </a:rPr>
              <a:t>05 / ACCOUNT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1018520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82B2B"/>
                </a:solidFill>
                <a:latin typeface="Aptos Display"/>
              </a:rPr>
              <a:t>Six discovery hypotheses—not six committed buyers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62456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5716E"/>
                </a:solidFill>
                <a:latin typeface="Aptos"/>
              </a:rPr>
              <a:t>M6.4 assessed 20 real companies. Seek evidence of a differentiated, frequent workflow and a real buyer.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47104"/>
            <a:ext cx="11009376" cy="14630"/>
          </a:xfrm>
          <a:prstGeom prst="rect">
            <a:avLst/>
          </a:prstGeom>
          <a:solidFill>
            <a:srgbClr val="CFD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638544"/>
            <a:ext cx="6400800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65716E"/>
                </a:solidFill>
                <a:latin typeface="Aptos"/>
              </a:rPr>
              <a:t>CHARTGROUND  /  M6    •    INDEPENDENT STRATEGY HYPOTHESIS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6638544"/>
            <a:ext cx="1965960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810" b="0">
                <a:solidFill>
                  <a:srgbClr val="65716E"/>
                </a:solidFill>
                <a:latin typeface="Aptos"/>
              </a:rPr>
              <a:t>OCT 2026     /     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1947672"/>
            <a:ext cx="3557016" cy="1719072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1430">
            <a:solidFill>
              <a:srgbClr val="CF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8096" y="2103120"/>
            <a:ext cx="2075688" cy="265176"/>
          </a:xfrm>
          <a:prstGeom prst="roundRect">
            <a:avLst>
              <a:gd name="adj" fmla="val 7500"/>
            </a:avLst>
          </a:prstGeom>
          <a:solidFill>
            <a:srgbClr val="E3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148840"/>
            <a:ext cx="1920240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25950"/>
                </a:solidFill>
                <a:latin typeface="Aptos"/>
              </a:rPr>
              <a:t>ONCOLOGY TRIAGE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50591"/>
            <a:ext cx="3154680" cy="2834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39" b="1">
                <a:solidFill>
                  <a:srgbClr val="182B2B"/>
                </a:solidFill>
                <a:latin typeface="Aptos"/>
              </a:rPr>
              <a:t>Navigating Care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16352"/>
            <a:ext cx="3136392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65716E"/>
                </a:solidFill>
                <a:latin typeface="Aptos"/>
              </a:rPr>
              <a:t>Digital triage &amp; symptom monitoring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82112"/>
            <a:ext cx="3172968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65" b="0">
                <a:solidFill>
                  <a:srgbClr val="182B2B"/>
                </a:solidFill>
                <a:latin typeface="Aptos"/>
              </a:rPr>
              <a:t>Can source-backed summaries reduce nurse triage effort?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5112" y="1947672"/>
            <a:ext cx="3557016" cy="1719072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1430">
            <a:solidFill>
              <a:srgbClr val="CF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80560" y="2103120"/>
            <a:ext cx="2075688" cy="265176"/>
          </a:xfrm>
          <a:prstGeom prst="roundRect">
            <a:avLst>
              <a:gd name="adj" fmla="val 7500"/>
            </a:avLst>
          </a:prstGeom>
          <a:solidFill>
            <a:srgbClr val="E3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81144" y="2148840"/>
            <a:ext cx="1920240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25950"/>
                </a:solidFill>
                <a:latin typeface="Aptos"/>
              </a:rPr>
              <a:t>ONCOLOGY MONITORING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9704" y="2450591"/>
            <a:ext cx="3154680" cy="2834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39" b="1">
                <a:solidFill>
                  <a:srgbClr val="182B2B"/>
                </a:solidFill>
                <a:latin typeface="Aptos"/>
              </a:rPr>
              <a:t>Canopy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9704" y="2816352"/>
            <a:ext cx="3136392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65716E"/>
                </a:solidFill>
                <a:latin typeface="Aptos"/>
              </a:rPr>
              <a:t>Remote monitoring &amp; patient-service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9704" y="3182112"/>
            <a:ext cx="3172968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65" b="0">
                <a:solidFill>
                  <a:srgbClr val="182B2B"/>
                </a:solidFill>
                <a:latin typeface="Aptos"/>
              </a:rPr>
              <a:t>Does longitudinal synthesis add value beyond existing AI?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28431" y="1947672"/>
            <a:ext cx="3557016" cy="1719072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1430">
            <a:solidFill>
              <a:srgbClr val="CF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83879" y="2103120"/>
            <a:ext cx="2075688" cy="265176"/>
          </a:xfrm>
          <a:prstGeom prst="roundRect">
            <a:avLst>
              <a:gd name="adj" fmla="val 7500"/>
            </a:avLst>
          </a:prstGeom>
          <a:solidFill>
            <a:srgbClr val="E3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4463" y="2148840"/>
            <a:ext cx="1920240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25950"/>
                </a:solidFill>
                <a:latin typeface="Aptos"/>
              </a:rPr>
              <a:t>ONCOLOGY / PAYER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3" y="2450591"/>
            <a:ext cx="3154680" cy="2834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39" b="1">
                <a:solidFill>
                  <a:srgbClr val="182B2B"/>
                </a:solidFill>
                <a:latin typeface="Aptos"/>
              </a:rPr>
              <a:t>OncoHealth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023" y="2816352"/>
            <a:ext cx="3136392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65716E"/>
                </a:solidFill>
                <a:latin typeface="Aptos"/>
              </a:rPr>
              <a:t>Utilization management &amp; authorizations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3023" y="3182112"/>
            <a:ext cx="3172968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65" b="0">
                <a:solidFill>
                  <a:srgbClr val="182B2B"/>
                </a:solidFill>
                <a:latin typeface="Aptos"/>
              </a:rPr>
              <a:t>Is traceable medical-necessity synthesis an unmet need?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" y="3867912"/>
            <a:ext cx="3557016" cy="1719072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1430">
            <a:solidFill>
              <a:srgbClr val="CF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68096" y="4023360"/>
            <a:ext cx="2075688" cy="265176"/>
          </a:xfrm>
          <a:prstGeom prst="roundRect">
            <a:avLst>
              <a:gd name="adj" fmla="val 7500"/>
            </a:avLst>
          </a:prstGeom>
          <a:solidFill>
            <a:srgbClr val="E3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069080"/>
            <a:ext cx="1920240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25950"/>
                </a:solidFill>
                <a:latin typeface="Aptos"/>
              </a:rPr>
              <a:t>ONCOLOGY / RCM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370832"/>
            <a:ext cx="3154680" cy="2834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39" b="1">
                <a:solidFill>
                  <a:srgbClr val="182B2B"/>
                </a:solidFill>
                <a:latin typeface="Aptos"/>
              </a:rPr>
              <a:t>Candid Health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736592"/>
            <a:ext cx="3136392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65716E"/>
                </a:solidFill>
                <a:latin typeface="Aptos"/>
              </a:rPr>
              <a:t>Autonomous revenue-cycle workflows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102352"/>
            <a:ext cx="3172968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65" b="0">
                <a:solidFill>
                  <a:srgbClr val="182B2B"/>
                </a:solidFill>
                <a:latin typeface="Aptos"/>
              </a:rPr>
              <a:t>Are denial exceptions frequent enough to support ROI?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25112" y="3867912"/>
            <a:ext cx="3557016" cy="1719072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1430">
            <a:solidFill>
              <a:srgbClr val="CF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480560" y="4023360"/>
            <a:ext cx="2075688" cy="265176"/>
          </a:xfrm>
          <a:prstGeom prst="roundRect">
            <a:avLst>
              <a:gd name="adj" fmla="val 7500"/>
            </a:avLst>
          </a:prstGeom>
          <a:solidFill>
            <a:srgbClr val="FCF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81144" y="4069080"/>
            <a:ext cx="1920240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25950"/>
                </a:solidFill>
                <a:latin typeface="Aptos"/>
              </a:rPr>
              <a:t>REFERRAL AUTOMATION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9704" y="4370832"/>
            <a:ext cx="3154680" cy="2834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39" b="1">
                <a:solidFill>
                  <a:srgbClr val="182B2B"/>
                </a:solidFill>
                <a:latin typeface="Aptos"/>
              </a:rPr>
              <a:t>Tennr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9704" y="4736592"/>
            <a:ext cx="3136392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65716E"/>
                </a:solidFill>
                <a:latin typeface="Aptos"/>
              </a:rPr>
              <a:t>Referral documentation &amp; authorization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9704" y="5102352"/>
            <a:ext cx="3172968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65" b="0">
                <a:solidFill>
                  <a:srgbClr val="182B2B"/>
                </a:solidFill>
                <a:latin typeface="Aptos"/>
              </a:rPr>
              <a:t>Which evidence/extraction gaps remain in intake?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28431" y="3867912"/>
            <a:ext cx="3557016" cy="1719072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1430">
            <a:solidFill>
              <a:srgbClr val="CF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183879" y="4023360"/>
            <a:ext cx="2075688" cy="265176"/>
          </a:xfrm>
          <a:prstGeom prst="roundRect">
            <a:avLst>
              <a:gd name="adj" fmla="val 7500"/>
            </a:avLst>
          </a:prstGeom>
          <a:solidFill>
            <a:srgbClr val="FCF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84463" y="4069080"/>
            <a:ext cx="1920240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25950"/>
                </a:solidFill>
                <a:latin typeface="Aptos"/>
              </a:rPr>
              <a:t>PAYER DEVELOPER APIs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3023" y="4370832"/>
            <a:ext cx="3154680" cy="2834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39" b="1">
                <a:solidFill>
                  <a:srgbClr val="182B2B"/>
                </a:solidFill>
                <a:latin typeface="Aptos"/>
              </a:rPr>
              <a:t>Stedi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93023" y="4736592"/>
            <a:ext cx="3136392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65716E"/>
                </a:solidFill>
                <a:latin typeface="Aptos"/>
              </a:rPr>
              <a:t>Eligibility, claims &amp; payer APIs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93023" y="5102352"/>
            <a:ext cx="3172968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65" b="0">
                <a:solidFill>
                  <a:srgbClr val="182B2B"/>
                </a:solidFill>
                <a:latin typeface="Aptos"/>
              </a:rPr>
              <a:t>Could Claude assist exceptions around existing APIs?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2648" y="5779008"/>
            <a:ext cx="10972800" cy="411480"/>
          </a:xfrm>
          <a:prstGeom prst="roundRect">
            <a:avLst>
              <a:gd name="adj" fmla="val 7500"/>
            </a:avLst>
          </a:prstGeom>
          <a:solidFill>
            <a:srgbClr val="10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4672" y="5907024"/>
            <a:ext cx="1243584" cy="155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E8B66B"/>
                </a:solidFill>
                <a:latin typeface="Aptos"/>
              </a:rPr>
              <a:t>PRIMARY WEDGE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5870448"/>
            <a:ext cx="3145536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Oncology-focused vendors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13832" y="5907024"/>
            <a:ext cx="1371600" cy="155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E8B66B"/>
                </a:solidFill>
                <a:latin typeface="Aptos"/>
              </a:rPr>
              <a:t>ADJACENCY CHECK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67144" y="5879592"/>
            <a:ext cx="448056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FFFFFF"/>
                </a:solidFill>
                <a:latin typeface="Aptos"/>
              </a:rPr>
              <a:t>Tennr + Stedi test broader repeat-workflow economics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6318504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5716E"/>
                </a:solidFill>
                <a:latin typeface="Aptos"/>
              </a:rPr>
              <a:t>Source: M6.4 account research (20 public-company profiles). No outreach, model-provider adoption or willingness to pay verified.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5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30" b="1">
                <a:solidFill>
                  <a:srgbClr val="225950"/>
                </a:solidFill>
                <a:latin typeface="Aptos"/>
              </a:rPr>
              <a:t>07 / CONVERSION 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82B2B"/>
                </a:solidFill>
                <a:latin typeface="Aptos Display"/>
              </a:rPr>
              <a:t>Measure cohort conversion—not developer signups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44168"/>
            <a:ext cx="110185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5716E"/>
                </a:solidFill>
                <a:latin typeface="Aptos"/>
              </a:rPr>
              <a:t>Six proposed gates; each denominator includes only qualified external ISVs with sufficient follow-up.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47104"/>
            <a:ext cx="11009376" cy="13716"/>
          </a:xfrm>
          <a:prstGeom prst="rect">
            <a:avLst/>
          </a:prstGeom>
          <a:solidFill>
            <a:srgbClr val="CFD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638544"/>
            <a:ext cx="640080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65716E"/>
                </a:solidFill>
                <a:latin typeface="Aptos"/>
              </a:rPr>
              <a:t>CHARTGROUND  /  M6    •    INDEPENDENT STRATEGY HYPOTHESIS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6638544"/>
            <a:ext cx="19659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10" b="0">
                <a:solidFill>
                  <a:srgbClr val="65716E"/>
                </a:solidFill>
                <a:latin typeface="Aptos"/>
              </a:rPr>
              <a:t>OCT 2026     /    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956816"/>
            <a:ext cx="3547872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CF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2112264"/>
            <a:ext cx="448056" cy="265176"/>
          </a:xfrm>
          <a:prstGeom prst="roundRect">
            <a:avLst>
              <a:gd name="adj" fmla="val 8000"/>
            </a:avLst>
          </a:prstGeom>
          <a:solidFill>
            <a:srgbClr val="EF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157984"/>
            <a:ext cx="274320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225950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0744" y="2139696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0" b="1">
                <a:solidFill>
                  <a:srgbClr val="225950"/>
                </a:solidFill>
                <a:latin typeface="Aptos"/>
              </a:rPr>
              <a:t>D7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441448"/>
            <a:ext cx="11704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25950"/>
                </a:solidFill>
                <a:latin typeface="Aptos Display"/>
              </a:rPr>
              <a:t>≥70%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0824" y="2478024"/>
            <a:ext cx="197510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182B2B"/>
                </a:solidFill>
                <a:latin typeface="Aptos"/>
              </a:rPr>
              <a:t>FIRST API 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953512"/>
            <a:ext cx="31729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25" b="0">
                <a:solidFill>
                  <a:srgbClr val="65716E"/>
                </a:solidFill>
                <a:latin typeface="Aptos"/>
              </a:rPr>
              <a:t>Qualified ISVs make an authenticated, valid request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5968" y="1956816"/>
            <a:ext cx="3547872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CF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71416" y="2112264"/>
            <a:ext cx="448056" cy="265176"/>
          </a:xfrm>
          <a:prstGeom prst="roundRect">
            <a:avLst>
              <a:gd name="adj" fmla="val 8000"/>
            </a:avLst>
          </a:prstGeom>
          <a:solidFill>
            <a:srgbClr val="EF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2157984"/>
            <a:ext cx="274320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225950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2139696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0" b="1">
                <a:solidFill>
                  <a:srgbClr val="225950"/>
                </a:solidFill>
                <a:latin typeface="Aptos"/>
              </a:rPr>
              <a:t>D30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2441448"/>
            <a:ext cx="11704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25950"/>
                </a:solidFill>
                <a:latin typeface="Aptos Display"/>
              </a:rPr>
              <a:t>≥60%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2478024"/>
            <a:ext cx="197510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182B2B"/>
                </a:solidFill>
                <a:latin typeface="Aptos"/>
              </a:rPr>
              <a:t>EVALUATION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2953512"/>
            <a:ext cx="31729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25" b="0">
                <a:solidFill>
                  <a:srgbClr val="65716E"/>
                </a:solidFill>
                <a:latin typeface="Aptos"/>
              </a:rPr>
              <a:t>Activated ISVs complete evidence-review package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10144" y="1956816"/>
            <a:ext cx="3547872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CF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65592" y="2112264"/>
            <a:ext cx="448056" cy="265176"/>
          </a:xfrm>
          <a:prstGeom prst="roundRect">
            <a:avLst>
              <a:gd name="adj" fmla="val 8000"/>
            </a:avLst>
          </a:prstGeom>
          <a:solidFill>
            <a:srgbClr val="EF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66175" y="2157984"/>
            <a:ext cx="274320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225950"/>
                </a:solidFill>
                <a:latin typeface="Aptos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69096" y="2139696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0" b="1">
                <a:solidFill>
                  <a:srgbClr val="225950"/>
                </a:solidFill>
                <a:latin typeface="Aptos"/>
              </a:rPr>
              <a:t>D60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3023" y="2441448"/>
            <a:ext cx="11704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25950"/>
                </a:solidFill>
                <a:latin typeface="Aptos Display"/>
              </a:rPr>
              <a:t>≥40%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9176" y="2478024"/>
            <a:ext cx="197510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182B2B"/>
                </a:solidFill>
                <a:latin typeface="Aptos"/>
              </a:rPr>
              <a:t>GOVERNED PILOT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3023" y="2953512"/>
            <a:ext cx="31729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25" b="0">
                <a:solidFill>
                  <a:srgbClr val="65716E"/>
                </a:solidFill>
                <a:latin typeface="Aptos"/>
              </a:rPr>
              <a:t>Evaluated ISVs begin a controlled workflow pilot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" y="3493008"/>
            <a:ext cx="3547872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CF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77240" y="3648456"/>
            <a:ext cx="448056" cy="265176"/>
          </a:xfrm>
          <a:prstGeom prst="roundRect">
            <a:avLst>
              <a:gd name="adj" fmla="val 8000"/>
            </a:avLst>
          </a:prstGeom>
          <a:solidFill>
            <a:srgbClr val="EF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" y="3694176"/>
            <a:ext cx="274320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225950"/>
                </a:solidFill>
                <a:latin typeface="Aptos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0744" y="3675887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0" b="1">
                <a:solidFill>
                  <a:srgbClr val="225950"/>
                </a:solidFill>
                <a:latin typeface="Aptos"/>
              </a:rPr>
              <a:t>D90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" y="3977639"/>
            <a:ext cx="11704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25950"/>
                </a:solidFill>
                <a:latin typeface="Aptos Display"/>
              </a:rPr>
              <a:t>≥70%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20824" y="4014215"/>
            <a:ext cx="197510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182B2B"/>
                </a:solidFill>
                <a:latin typeface="Aptos"/>
              </a:rPr>
              <a:t>READINESS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" y="4489704"/>
            <a:ext cx="31729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25" b="0">
                <a:solidFill>
                  <a:srgbClr val="65716E"/>
                </a:solidFill>
                <a:latin typeface="Aptos"/>
              </a:rPr>
              <a:t>Mature pilots clear applicable enterprise controls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15968" y="3493008"/>
            <a:ext cx="3547872" cy="1389888"/>
          </a:xfrm>
          <a:prstGeom prst="roundRect">
            <a:avLst>
              <a:gd name="adj" fmla="val 8000"/>
            </a:avLst>
          </a:prstGeom>
          <a:solidFill>
            <a:srgbClr val="E3EFE7"/>
          </a:solidFill>
          <a:ln w="10160">
            <a:solidFill>
              <a:srgbClr val="CF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471416" y="3648456"/>
            <a:ext cx="448056" cy="265176"/>
          </a:xfrm>
          <a:prstGeom prst="roundRect">
            <a:avLst>
              <a:gd name="adj" fmla="val 8000"/>
            </a:avLst>
          </a:prstGeom>
          <a:solidFill>
            <a:srgbClr val="EF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3694176"/>
            <a:ext cx="274320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225950"/>
                </a:solidFill>
                <a:latin typeface="Aptos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74920" y="3675887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0" b="1">
                <a:solidFill>
                  <a:srgbClr val="225950"/>
                </a:solidFill>
                <a:latin typeface="Aptos"/>
              </a:rPr>
              <a:t>D180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98848" y="3977639"/>
            <a:ext cx="11704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25950"/>
                </a:solidFill>
                <a:latin typeface="Aptos Display"/>
              </a:rPr>
              <a:t>≥30%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15000" y="4014215"/>
            <a:ext cx="197510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182B2B"/>
                </a:solidFill>
                <a:latin typeface="Aptos"/>
              </a:rPr>
              <a:t>PAID PRODUCTION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98848" y="4489704"/>
            <a:ext cx="31729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25" b="0">
                <a:solidFill>
                  <a:srgbClr val="65716E"/>
                </a:solidFill>
                <a:latin typeface="Aptos"/>
              </a:rPr>
              <a:t>Mature pilots reach actual paid production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10144" y="3493008"/>
            <a:ext cx="3547872" cy="1389888"/>
          </a:xfrm>
          <a:prstGeom prst="roundRect">
            <a:avLst>
              <a:gd name="adj" fmla="val 8000"/>
            </a:avLst>
          </a:prstGeom>
          <a:solidFill>
            <a:srgbClr val="E3EFE7"/>
          </a:solidFill>
          <a:ln w="10160">
            <a:solidFill>
              <a:srgbClr val="CF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165592" y="3648456"/>
            <a:ext cx="448056" cy="265176"/>
          </a:xfrm>
          <a:prstGeom prst="roundRect">
            <a:avLst>
              <a:gd name="adj" fmla="val 8000"/>
            </a:avLst>
          </a:prstGeom>
          <a:solidFill>
            <a:srgbClr val="EF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66175" y="3694176"/>
            <a:ext cx="274320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225950"/>
                </a:solidFill>
                <a:latin typeface="Aptos"/>
              </a:rPr>
              <a:t>06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69096" y="3675887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0" b="1">
                <a:solidFill>
                  <a:srgbClr val="225950"/>
                </a:solidFill>
                <a:latin typeface="Aptos"/>
              </a:rPr>
              <a:t>LIVE + 30D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93023" y="3977639"/>
            <a:ext cx="11704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25950"/>
                </a:solidFill>
                <a:latin typeface="Aptos Display"/>
              </a:rPr>
              <a:t>≥70%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09176" y="4014215"/>
            <a:ext cx="197510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182B2B"/>
                </a:solidFill>
                <a:latin typeface="Aptos"/>
              </a:rPr>
              <a:t>SUSTAINED USAGE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93023" y="4489704"/>
            <a:ext cx="31729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25" b="0">
                <a:solidFill>
                  <a:srgbClr val="65716E"/>
                </a:solidFill>
                <a:latin typeface="Aptos"/>
              </a:rPr>
              <a:t>Mature live ISVs meet paid-request threshold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792" y="5102352"/>
            <a:ext cx="10972800" cy="786384"/>
          </a:xfrm>
          <a:prstGeom prst="roundRect">
            <a:avLst>
              <a:gd name="adj" fmla="val 8000"/>
            </a:avLst>
          </a:prstGeom>
          <a:solidFill>
            <a:srgbClr val="10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9536" y="5303520"/>
            <a:ext cx="118872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8B66B"/>
                </a:solidFill>
                <a:latin typeface="Aptos"/>
              </a:rPr>
              <a:t>NORTH STAR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20240" y="5221224"/>
            <a:ext cx="48828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Sustained paid-production ISVs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84848" y="5266944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45" b="0">
                <a:solidFill>
                  <a:srgbClr val="D2DEDA"/>
                </a:solidFill>
                <a:latin typeface="Aptos"/>
              </a:rPr>
              <a:t>≥1,000 non-test paid requests / trailing 30 days per live ISV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" y="6108192"/>
            <a:ext cx="109270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5716E"/>
                </a:solidFill>
                <a:latin typeface="Aptos"/>
              </a:rPr>
              <a:t>M6.3 PROPOSED TARGETS  •  Exclude OncoPilot/RadPath synthetic tenants; use eligible, mature cohorts; missing evidence = “Insufficient data.”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5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30" b="1">
                <a:solidFill>
                  <a:srgbClr val="225950"/>
                </a:solidFill>
                <a:latin typeface="Aptos"/>
              </a:rPr>
              <a:t>08 / PRODUCT INVESTMENTS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82B2B"/>
                </a:solidFill>
                <a:latin typeface="Aptos Display"/>
              </a:rPr>
              <a:t>Fund five P0 capabilities that reduce time-to-production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44168"/>
            <a:ext cx="110185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5716E"/>
                </a:solidFill>
                <a:latin typeface="Aptos"/>
              </a:rPr>
              <a:t>Leverage existing Claude SDKs, workspaces and usage tools; build healthcare-specific readiness and evaluation assets.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47104"/>
            <a:ext cx="11009376" cy="13716"/>
          </a:xfrm>
          <a:prstGeom prst="rect">
            <a:avLst/>
          </a:prstGeom>
          <a:solidFill>
            <a:srgbClr val="CFD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638544"/>
            <a:ext cx="640080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65716E"/>
                </a:solidFill>
                <a:latin typeface="Aptos"/>
              </a:rPr>
              <a:t>CHARTGROUND  /  M6    •    INDEPENDENT STRATEGY HYPOTHESIS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6638544"/>
            <a:ext cx="19659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10" b="0">
                <a:solidFill>
                  <a:srgbClr val="65716E"/>
                </a:solidFill>
                <a:latin typeface="Aptos"/>
              </a:rPr>
              <a:t>OCT 2026     /     09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1901952"/>
            <a:ext cx="10972800" cy="365760"/>
          </a:xfrm>
          <a:prstGeom prst="rect">
            <a:avLst/>
          </a:prstGeom>
          <a:solidFill>
            <a:srgbClr val="10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93392"/>
            <a:ext cx="3081528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ptos"/>
              </a:rPr>
              <a:t>P0 / CAPABILITY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05072" y="1993392"/>
            <a:ext cx="3145536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ptos"/>
              </a:rPr>
              <a:t>DEVELOPER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24344" y="1993392"/>
            <a:ext cx="3977639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Aptos"/>
              </a:rPr>
              <a:t>ACCEPTANCE TEST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2331720"/>
            <a:ext cx="10972800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672" y="2496312"/>
            <a:ext cx="493776" cy="246888"/>
          </a:xfrm>
          <a:prstGeom prst="roundRect">
            <a:avLst>
              <a:gd name="adj" fmla="val 8000"/>
            </a:avLst>
          </a:prstGeom>
          <a:solidFill>
            <a:srgbClr val="E3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2532888"/>
            <a:ext cx="27432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10" b="1">
                <a:solidFill>
                  <a:srgbClr val="225950"/>
                </a:solidFill>
                <a:latin typeface="Aptos"/>
              </a:rP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35608" y="2487168"/>
            <a:ext cx="2359152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182B2B"/>
                </a:solidFill>
                <a:latin typeface="Aptos"/>
              </a:rPr>
              <a:t>Healthcare quickstart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14215" y="2496312"/>
            <a:ext cx="298094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65716E"/>
                </a:solidFill>
                <a:latin typeface="Aptos"/>
              </a:rPr>
              <a:t>First useful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3488" y="2414015"/>
            <a:ext cx="3941063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75" b="0">
                <a:solidFill>
                  <a:srgbClr val="182B2B"/>
                </a:solidFill>
                <a:latin typeface="Aptos"/>
              </a:rPr>
              <a:t>Authenticated, traced API call ≤30 minutes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2971800"/>
            <a:ext cx="10972800" cy="585216"/>
          </a:xfrm>
          <a:prstGeom prst="roundRect">
            <a:avLst>
              <a:gd name="adj" fmla="val 8000"/>
            </a:avLst>
          </a:prstGeom>
          <a:solidFill>
            <a:srgbClr val="EF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4672" y="3136392"/>
            <a:ext cx="493776" cy="246888"/>
          </a:xfrm>
          <a:prstGeom prst="roundRect">
            <a:avLst>
              <a:gd name="adj" fmla="val 8000"/>
            </a:avLst>
          </a:prstGeom>
          <a:solidFill>
            <a:srgbClr val="E3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" y="3172968"/>
            <a:ext cx="27432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10" b="1">
                <a:solidFill>
                  <a:srgbClr val="225950"/>
                </a:solidFill>
                <a:latin typeface="Aptos"/>
              </a:rPr>
              <a:t>P0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35608" y="3127248"/>
            <a:ext cx="2359152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182B2B"/>
                </a:solidFill>
                <a:latin typeface="Aptos"/>
              </a:rPr>
              <a:t>Evidence evaluation toolkit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14215" y="3136392"/>
            <a:ext cx="298094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65716E"/>
                </a:solidFill>
                <a:latin typeface="Aptos"/>
              </a:rPr>
              <a:t>Credible clinical-workflow evaluation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3488" y="3054096"/>
            <a:ext cx="3941063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75" b="0">
                <a:solidFill>
                  <a:srgbClr val="182B2B"/>
                </a:solidFill>
                <a:latin typeface="Aptos"/>
              </a:rPr>
              <a:t>≥50 synthetic cases + reviewer adjudication and failure taxonomy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3611879"/>
            <a:ext cx="10972800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4672" y="3776472"/>
            <a:ext cx="493776" cy="246888"/>
          </a:xfrm>
          <a:prstGeom prst="roundRect">
            <a:avLst>
              <a:gd name="adj" fmla="val 8000"/>
            </a:avLst>
          </a:prstGeom>
          <a:solidFill>
            <a:srgbClr val="E3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3813048"/>
            <a:ext cx="27432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10" b="1">
                <a:solidFill>
                  <a:srgbClr val="225950"/>
                </a:solidFill>
                <a:latin typeface="Aptos"/>
              </a:rPr>
              <a:t>P0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35608" y="3767328"/>
            <a:ext cx="2359152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182B2B"/>
                </a:solidFill>
                <a:latin typeface="Aptos"/>
              </a:rPr>
              <a:t>Cost-per-workflow estimator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14215" y="3776472"/>
            <a:ext cx="298094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65716E"/>
                </a:solidFill>
                <a:latin typeface="Aptos"/>
              </a:rPr>
              <a:t>Transparent usage economics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33488" y="3694176"/>
            <a:ext cx="3941063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75" b="0">
                <a:solidFill>
                  <a:srgbClr val="182B2B"/>
                </a:solidFill>
                <a:latin typeface="Aptos"/>
              </a:rPr>
              <a:t>Model, tokens, retries and pricing version; reconcile sampled runs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" y="4251959"/>
            <a:ext cx="10972800" cy="585216"/>
          </a:xfrm>
          <a:prstGeom prst="roundRect">
            <a:avLst>
              <a:gd name="adj" fmla="val 8000"/>
            </a:avLst>
          </a:prstGeom>
          <a:solidFill>
            <a:srgbClr val="EF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4672" y="4416551"/>
            <a:ext cx="493776" cy="246888"/>
          </a:xfrm>
          <a:prstGeom prst="roundRect">
            <a:avLst>
              <a:gd name="adj" fmla="val 8000"/>
            </a:avLst>
          </a:prstGeom>
          <a:solidFill>
            <a:srgbClr val="E3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5256" y="4453127"/>
            <a:ext cx="27432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10" b="1">
                <a:solidFill>
                  <a:srgbClr val="225950"/>
                </a:solidFill>
                <a:latin typeface="Aptos"/>
              </a:rPr>
              <a:t>P0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35608" y="4407407"/>
            <a:ext cx="2359152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182B2B"/>
                </a:solidFill>
                <a:latin typeface="Aptos"/>
              </a:rPr>
              <a:t>Enterprise readiness checklist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14215" y="4416551"/>
            <a:ext cx="298094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65716E"/>
                </a:solidFill>
                <a:latin typeface="Aptos"/>
              </a:rPr>
              <a:t>Reduce compliance uncertainty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33488" y="4334255"/>
            <a:ext cx="3941063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75" b="0">
                <a:solidFill>
                  <a:srgbClr val="182B2B"/>
                </a:solidFill>
                <a:latin typeface="Aptos"/>
              </a:rPr>
              <a:t>Block PHI use until eligible terms, feature coverage and approvals are verified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" y="4892040"/>
            <a:ext cx="10972800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04672" y="5056631"/>
            <a:ext cx="493776" cy="246888"/>
          </a:xfrm>
          <a:prstGeom prst="roundRect">
            <a:avLst>
              <a:gd name="adj" fmla="val 8000"/>
            </a:avLst>
          </a:prstGeom>
          <a:solidFill>
            <a:srgbClr val="E3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5256" y="5093207"/>
            <a:ext cx="27432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10" b="1">
                <a:solidFill>
                  <a:srgbClr val="225950"/>
                </a:solidFill>
                <a:latin typeface="Aptos"/>
              </a:rPr>
              <a:t>P0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047488"/>
            <a:ext cx="2359152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182B2B"/>
                </a:solidFill>
                <a:latin typeface="Aptos"/>
              </a:rPr>
              <a:t>Lifecycle event instrumentation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14215" y="5056631"/>
            <a:ext cx="298094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65716E"/>
                </a:solidFill>
                <a:latin typeface="Aptos"/>
              </a:rPr>
              <a:t>Measure the actual developer funnel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33488" y="4974336"/>
            <a:ext cx="3941063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75" b="0">
                <a:solidFill>
                  <a:srgbClr val="182B2B"/>
                </a:solidFill>
                <a:latin typeface="Aptos"/>
              </a:rPr>
              <a:t>ISV, environment, timestamp, source; no duplicate milestone counts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" y="5660136"/>
            <a:ext cx="10972800" cy="493776"/>
          </a:xfrm>
          <a:prstGeom prst="roundRect">
            <a:avLst>
              <a:gd name="adj" fmla="val 8000"/>
            </a:avLst>
          </a:prstGeom>
          <a:solidFill>
            <a:srgbClr val="FCF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" y="581558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225950"/>
                </a:solidFill>
                <a:latin typeface="Aptos"/>
              </a:rPr>
              <a:t>NEXT: P1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00200" y="5779008"/>
            <a:ext cx="47091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65" b="0">
                <a:solidFill>
                  <a:srgbClr val="182B2B"/>
                </a:solidFill>
                <a:latin typeface="Aptos"/>
              </a:rPr>
              <a:t>Reliability guide • partner attribution • specialty reference app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29400" y="5815584"/>
            <a:ext cx="84124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225950"/>
                </a:solidFill>
                <a:latin typeface="Aptos"/>
              </a:rPr>
              <a:t>DEFER P2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79" y="5779008"/>
            <a:ext cx="3803904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82B2B"/>
                </a:solidFill>
                <a:latin typeface="Aptos"/>
              </a:rPr>
              <a:t>Deep EHR distribution • reseller settlement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" y="6263640"/>
            <a:ext cx="10899648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5716E"/>
                </a:solidFill>
                <a:latin typeface="Aptos"/>
              </a:rPr>
              <a:t>P0 priorities are proposed scope, not shipped Anthropic capabilities. M1–M5 supply technical proof points; qualified external developer outcomes are not yet observed.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5950"/>
          </a:solidFill>
          <a:ln w="12700">
            <a:solidFill>
              <a:srgbClr val="22595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931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30" b="1">
                <a:solidFill>
                  <a:srgbClr val="225950"/>
                </a:solidFill>
                <a:latin typeface="Aptos"/>
              </a:rPr>
              <a:t>09 / MONETIZATION SCENARIOS</a:t>
            </a:r>
          </a:p>
        </p:txBody>
      </p:sp>
      <p:sp>
        <p:nvSpPr>
          <p:cNvPr id="4" name="Text 2"/>
          <p:cNvSpPr/>
          <p:nvPr/>
        </p:nvSpPr>
        <p:spPr>
          <a:xfrm>
            <a:off x="59436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10" b="1" dirty="0">
                <a:solidFill>
                  <a:srgbClr val="182B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revenue depends on repeated workflows—not just developer logos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594360" y="13441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657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M6.2 illustrative Month-12 scenarios; customer counts, token intensity and negotiated discounts are assumptions.</a:t>
            </a:r>
            <a:endParaRPr lang="en-US" sz="1420" dirty="0"/>
          </a:p>
        </p:txBody>
      </p:sp>
      <p:sp>
        <p:nvSpPr>
          <p:cNvPr id="6" name="Shape 4"/>
          <p:cNvSpPr/>
          <p:nvPr/>
        </p:nvSpPr>
        <p:spPr>
          <a:xfrm>
            <a:off x="594360" y="6547104"/>
            <a:ext cx="11009376" cy="0"/>
          </a:xfrm>
          <a:prstGeom prst="line">
            <a:avLst/>
          </a:prstGeom>
          <a:noFill/>
          <a:ln w="12700">
            <a:solidFill>
              <a:srgbClr val="DCE2DD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663854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spc="70" kern="0" dirty="0">
                <a:solidFill>
                  <a:srgbClr val="657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CHARTGROUND  /  M6    •    INDEPENDENT STRATEGY HYPOTHESIS</a:t>
            </a:r>
            <a:endParaRPr lang="en-US" sz="810" dirty="0"/>
          </a:p>
        </p:txBody>
      </p:sp>
      <p:sp>
        <p:nvSpPr>
          <p:cNvPr id="8" name="Text 6"/>
          <p:cNvSpPr/>
          <p:nvPr/>
        </p:nvSpPr>
        <p:spPr>
          <a:xfrm>
            <a:off x="9646920" y="6638544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810">
                <a:solidFill>
                  <a:srgbClr val="65716E"/>
                </a:solidFill>
                <a:latin typeface="Aptos"/>
              </a:rPr>
              <a:t>OCT 2026     /     10</a:t>
            </a:r>
          </a:p>
        </p:txBody>
      </p:sp>
      <p:sp>
        <p:nvSpPr>
          <p:cNvPr id="9" name="Shape 7"/>
          <p:cNvSpPr/>
          <p:nvPr/>
        </p:nvSpPr>
        <p:spPr>
          <a:xfrm>
            <a:off x="621792" y="1828800"/>
            <a:ext cx="4023360" cy="283464"/>
          </a:xfrm>
          <a:prstGeom prst="roundRect">
            <a:avLst>
              <a:gd name="adj" fmla="val 25806"/>
            </a:avLst>
          </a:prstGeom>
          <a:solidFill>
            <a:srgbClr val="FFF2E1"/>
          </a:solidFill>
          <a:ln w="10160">
            <a:solidFill>
              <a:srgbClr val="FFF2E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1520" y="1860804"/>
            <a:ext cx="3803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AE5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M6.2 SCENARIOS  •  MONTH-12 API BILLINGS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4828032" y="1847088"/>
            <a:ext cx="6446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30" b="1" dirty="0">
                <a:solidFill>
                  <a:srgbClr val="18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Blended Claude 5.5 model mix  •  consumption-based charges</a:t>
            </a:r>
            <a:endParaRPr lang="en-US" sz="1430" dirty="0"/>
          </a:p>
        </p:txBody>
      </p:sp>
      <p:sp>
        <p:nvSpPr>
          <p:cNvPr id="12" name="Shape 10"/>
          <p:cNvSpPr/>
          <p:nvPr/>
        </p:nvSpPr>
        <p:spPr>
          <a:xfrm>
            <a:off x="621792" y="2359152"/>
            <a:ext cx="3493008" cy="2414016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0160">
            <a:solidFill>
              <a:srgbClr val="DCE2DD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04672" y="252374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spc="80" kern="0" dirty="0">
                <a:solidFill>
                  <a:srgbClr val="2259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CONSERVATIVE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804672" y="2834640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dirty="0">
                <a:solidFill>
                  <a:srgbClr val="657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ISVs  /  30k workflows per month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4672" y="3218688"/>
            <a:ext cx="2926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50" b="1" dirty="0">
                <a:solidFill>
                  <a:srgbClr val="18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$269</a:t>
            </a:r>
            <a:endParaRPr lang="en-US" sz="2750" dirty="0"/>
          </a:p>
        </p:txBody>
      </p:sp>
      <p:sp>
        <p:nvSpPr>
          <p:cNvPr id="16" name="Text 14"/>
          <p:cNvSpPr/>
          <p:nvPr/>
        </p:nvSpPr>
        <p:spPr>
          <a:xfrm>
            <a:off x="804672" y="3858768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657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M12 API billings  •  $3.2k annualized</a:t>
            </a:r>
            <a:endParaRPr lang="en-US" sz="1160" dirty="0"/>
          </a:p>
        </p:txBody>
      </p:sp>
      <p:sp>
        <p:nvSpPr>
          <p:cNvPr id="17" name="Shape 15"/>
          <p:cNvSpPr/>
          <p:nvPr/>
        </p:nvSpPr>
        <p:spPr>
          <a:xfrm>
            <a:off x="804672" y="4325112"/>
            <a:ext cx="348729" cy="182880"/>
          </a:xfrm>
          <a:prstGeom prst="rect">
            <a:avLst/>
          </a:prstGeom>
          <a:solidFill>
            <a:srgbClr val="357566"/>
          </a:solidFill>
          <a:ln w="12700">
            <a:solidFill>
              <a:srgbClr val="357566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04672" y="4553712"/>
            <a:ext cx="3099816" cy="0"/>
          </a:xfrm>
          <a:prstGeom prst="line">
            <a:avLst/>
          </a:prstGeom>
          <a:noFill/>
          <a:ln w="12700">
            <a:solidFill>
              <a:srgbClr val="DCE2DD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325112" y="2359152"/>
            <a:ext cx="3493008" cy="2414016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0160">
            <a:solidFill>
              <a:srgbClr val="DCE2DD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507992" y="252374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spc="80" kern="0" dirty="0">
                <a:solidFill>
                  <a:srgbClr val="2259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</a:t>
            </a:r>
            <a:endParaRPr lang="en-US" sz="1140" dirty="0"/>
          </a:p>
        </p:txBody>
      </p:sp>
      <p:sp>
        <p:nvSpPr>
          <p:cNvPr id="21" name="Text 19"/>
          <p:cNvSpPr/>
          <p:nvPr/>
        </p:nvSpPr>
        <p:spPr>
          <a:xfrm>
            <a:off x="4507992" y="2834640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dirty="0">
                <a:solidFill>
                  <a:srgbClr val="657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 ISVs  /  1.5M workflows per month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07992" y="3218688"/>
            <a:ext cx="2926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50" b="1" dirty="0">
                <a:solidFill>
                  <a:srgbClr val="18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$22.4k</a:t>
            </a:r>
            <a:endParaRPr lang="en-US" sz="2750" dirty="0"/>
          </a:p>
        </p:txBody>
      </p:sp>
      <p:sp>
        <p:nvSpPr>
          <p:cNvPr id="23" name="Text 21"/>
          <p:cNvSpPr/>
          <p:nvPr/>
        </p:nvSpPr>
        <p:spPr>
          <a:xfrm>
            <a:off x="4507992" y="3858768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657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M12 API billings  •  $269k annualized</a:t>
            </a:r>
            <a:endParaRPr lang="en-US" sz="1160" dirty="0"/>
          </a:p>
        </p:txBody>
      </p:sp>
      <p:sp>
        <p:nvSpPr>
          <p:cNvPr id="24" name="Shape 22"/>
          <p:cNvSpPr/>
          <p:nvPr/>
        </p:nvSpPr>
        <p:spPr>
          <a:xfrm>
            <a:off x="4507992" y="4325112"/>
            <a:ext cx="774954" cy="182880"/>
          </a:xfrm>
          <a:prstGeom prst="rect">
            <a:avLst/>
          </a:prstGeom>
          <a:solidFill>
            <a:srgbClr val="357566"/>
          </a:solidFill>
          <a:ln w="12700">
            <a:solidFill>
              <a:srgbClr val="357566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507992" y="4553712"/>
            <a:ext cx="3099816" cy="0"/>
          </a:xfrm>
          <a:prstGeom prst="line">
            <a:avLst/>
          </a:prstGeom>
          <a:noFill/>
          <a:ln w="12700">
            <a:solidFill>
              <a:srgbClr val="DCE2DD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028432" y="2359152"/>
            <a:ext cx="3493008" cy="2414016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0160">
            <a:solidFill>
              <a:srgbClr val="DCE2DD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211312" y="252374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spc="80" kern="0" dirty="0">
                <a:solidFill>
                  <a:srgbClr val="2259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EXPANSION</a:t>
            </a:r>
            <a:endParaRPr lang="en-US" sz="1140" dirty="0"/>
          </a:p>
        </p:txBody>
      </p:sp>
      <p:sp>
        <p:nvSpPr>
          <p:cNvPr id="28" name="Text 26"/>
          <p:cNvSpPr/>
          <p:nvPr/>
        </p:nvSpPr>
        <p:spPr>
          <a:xfrm>
            <a:off x="8211312" y="2834640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dirty="0">
                <a:solidFill>
                  <a:srgbClr val="657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 ISVs  /  20M workflows per month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11312" y="3218688"/>
            <a:ext cx="2926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50" b="1" dirty="0">
                <a:solidFill>
                  <a:srgbClr val="18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$422.1k</a:t>
            </a:r>
            <a:endParaRPr lang="en-US" sz="2750" dirty="0"/>
          </a:p>
        </p:txBody>
      </p:sp>
      <p:sp>
        <p:nvSpPr>
          <p:cNvPr id="30" name="Text 28"/>
          <p:cNvSpPr/>
          <p:nvPr/>
        </p:nvSpPr>
        <p:spPr>
          <a:xfrm>
            <a:off x="8211312" y="3858768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657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M12 API billings  •  $5.07M annualized</a:t>
            </a:r>
            <a:endParaRPr lang="en-US" sz="1160" dirty="0"/>
          </a:p>
        </p:txBody>
      </p:sp>
      <p:sp>
        <p:nvSpPr>
          <p:cNvPr id="31" name="Shape 29"/>
          <p:cNvSpPr/>
          <p:nvPr/>
        </p:nvSpPr>
        <p:spPr>
          <a:xfrm>
            <a:off x="8211312" y="4325112"/>
            <a:ext cx="3099816" cy="182880"/>
          </a:xfrm>
          <a:prstGeom prst="rect">
            <a:avLst/>
          </a:prstGeom>
          <a:solidFill>
            <a:srgbClr val="D27E56"/>
          </a:solidFill>
          <a:ln w="12700">
            <a:solidFill>
              <a:srgbClr val="D27E56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8211312" y="4553712"/>
            <a:ext cx="3099816" cy="0"/>
          </a:xfrm>
          <a:prstGeom prst="line">
            <a:avLst/>
          </a:prstGeom>
          <a:noFill/>
          <a:ln w="12700">
            <a:solidFill>
              <a:srgbClr val="DCE2DD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640080" y="5056632"/>
            <a:ext cx="3520440" cy="877824"/>
          </a:xfrm>
          <a:prstGeom prst="roundRect">
            <a:avLst>
              <a:gd name="adj" fmla="val 8333"/>
            </a:avLst>
          </a:prstGeom>
          <a:solidFill>
            <a:srgbClr val="EFF2EC"/>
          </a:solidFill>
          <a:ln w="10160">
            <a:solidFill>
              <a:srgbClr val="DCE2DD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777240" y="521208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2259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</a:t>
            </a:r>
            <a:endParaRPr lang="en-US" sz="1020" dirty="0"/>
          </a:p>
        </p:txBody>
      </p:sp>
      <p:sp>
        <p:nvSpPr>
          <p:cNvPr id="35" name="Text 33"/>
          <p:cNvSpPr/>
          <p:nvPr/>
        </p:nvSpPr>
        <p:spPr>
          <a:xfrm>
            <a:off x="1472184" y="513892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8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recurring usage</a:t>
            </a:r>
            <a:endParaRPr lang="en-US" sz="1340" dirty="0"/>
          </a:p>
        </p:txBody>
      </p:sp>
      <p:sp>
        <p:nvSpPr>
          <p:cNvPr id="36" name="Text 34"/>
          <p:cNvSpPr/>
          <p:nvPr/>
        </p:nvSpPr>
        <p:spPr>
          <a:xfrm>
            <a:off x="1472184" y="5468112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657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Logos alone cannot establish monetization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361688" y="5056632"/>
            <a:ext cx="3520440" cy="877824"/>
          </a:xfrm>
          <a:prstGeom prst="roundRect">
            <a:avLst>
              <a:gd name="adj" fmla="val 8333"/>
            </a:avLst>
          </a:prstGeom>
          <a:solidFill>
            <a:srgbClr val="FFF2E1"/>
          </a:solidFill>
          <a:ln w="10160">
            <a:solidFill>
              <a:srgbClr val="DCE2DD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498848" y="521208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2259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</a:t>
            </a:r>
            <a:endParaRPr lang="en-US" sz="1020" dirty="0"/>
          </a:p>
        </p:txBody>
      </p:sp>
      <p:sp>
        <p:nvSpPr>
          <p:cNvPr id="39" name="Text 37"/>
          <p:cNvSpPr/>
          <p:nvPr/>
        </p:nvSpPr>
        <p:spPr>
          <a:xfrm>
            <a:off x="5193792" y="513892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8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ISV ROI viable</a:t>
            </a:r>
            <a:endParaRPr lang="en-US" sz="1340" dirty="0"/>
          </a:p>
        </p:txBody>
      </p:sp>
      <p:sp>
        <p:nvSpPr>
          <p:cNvPr id="40" name="Text 38"/>
          <p:cNvSpPr/>
          <p:nvPr/>
        </p:nvSpPr>
        <p:spPr>
          <a:xfrm>
            <a:off x="5193792" y="5468112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657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ISV requires ~31.6k monthly workflows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083296" y="5056632"/>
            <a:ext cx="3520440" cy="877824"/>
          </a:xfrm>
          <a:prstGeom prst="roundRect">
            <a:avLst>
              <a:gd name="adj" fmla="val 8333"/>
            </a:avLst>
          </a:prstGeom>
          <a:solidFill>
            <a:srgbClr val="EFF2EC"/>
          </a:solidFill>
          <a:ln w="10160">
            <a:solidFill>
              <a:srgbClr val="DCE2DD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8220456" y="521208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2259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</a:t>
            </a:r>
            <a:endParaRPr lang="en-US" sz="1020" dirty="0"/>
          </a:p>
        </p:txBody>
      </p:sp>
      <p:sp>
        <p:nvSpPr>
          <p:cNvPr id="43" name="Text 41"/>
          <p:cNvSpPr/>
          <p:nvPr/>
        </p:nvSpPr>
        <p:spPr>
          <a:xfrm>
            <a:off x="8915400" y="513892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8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 consumption</a:t>
            </a:r>
            <a:endParaRPr lang="en-US" sz="1340" dirty="0"/>
          </a:p>
        </p:txBody>
      </p:sp>
      <p:sp>
        <p:nvSpPr>
          <p:cNvPr id="44" name="Text 42"/>
          <p:cNvSpPr/>
          <p:nvPr/>
        </p:nvSpPr>
        <p:spPr>
          <a:xfrm>
            <a:off x="8915400" y="5468112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657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Partner-led installs + repeat workload intensity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40080" y="616305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657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CAVEAT: Year-1 base billings = $125.4k; month-12 annualized = $268.8k. Illustrative pricing, model mix, discounts, partner fees and usage—not a forecast.</a:t>
            </a:r>
            <a:endParaRPr lang="en-US" sz="89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5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94360" y="6547104"/>
            <a:ext cx="11009376" cy="0"/>
          </a:xfrm>
          <a:prstGeom prst="line">
            <a:avLst/>
          </a:prstGeom>
          <a:ln w="8890">
            <a:solidFill>
              <a:srgbClr val="DD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94360" y="6620256"/>
            <a:ext cx="731520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10" b="0">
                <a:solidFill>
                  <a:srgbClr val="65716E"/>
                </a:solidFill>
                <a:latin typeface="Aptos"/>
              </a:rPr>
              <a:t>CHARTGROUND  /  M6    •    INDEPENDENT STRATEGY HYPOTHESIS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0928" y="6620256"/>
            <a:ext cx="1901952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10" b="0">
                <a:solidFill>
                  <a:srgbClr val="65716E"/>
                </a:solidFill>
                <a:latin typeface="Aptos"/>
              </a:rPr>
              <a:t>OCT 2026     /   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93192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30" b="1">
                <a:solidFill>
                  <a:srgbClr val="225950"/>
                </a:solidFill>
                <a:latin typeface="Aptos"/>
              </a:rPr>
              <a:t>10 / REVENUE SCALE &amp; UNIT ECONOMICS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04088"/>
            <a:ext cx="1104595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50" b="1">
                <a:solidFill>
                  <a:srgbClr val="182B2B"/>
                </a:solidFill>
                <a:latin typeface="Aptos Display"/>
              </a:rPr>
              <a:t>$1M annualized API billings is a workflow-intensity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62456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5716E"/>
                </a:solidFill>
                <a:latin typeface="Aptos"/>
              </a:rPr>
              <a:t>At M6.2 base consumption economics, 50 paying ISVs yield only $268.8k in Month-12 annualized API billings.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11680"/>
            <a:ext cx="3895344" cy="1344168"/>
          </a:xfrm>
          <a:prstGeom prst="roundRect">
            <a:avLst>
              <a:gd name="adj" fmla="val 10000"/>
            </a:avLst>
          </a:prstGeom>
          <a:solidFill>
            <a:srgbClr val="10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148840"/>
            <a:ext cx="348386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90" b="1">
                <a:solidFill>
                  <a:srgbClr val="B8D8C8"/>
                </a:solidFill>
                <a:latin typeface="Aptos"/>
              </a:rPr>
              <a:t>ILLUSTRATIVE $1M ANNUALIZED THRESHOLD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359152"/>
            <a:ext cx="1636776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4150" b="1">
                <a:solidFill>
                  <a:srgbClr val="FFFFFF"/>
                </a:solidFill>
                <a:latin typeface="Aptos Display"/>
              </a:rPr>
              <a:t>186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14016" y="2542032"/>
            <a:ext cx="186537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ptos"/>
              </a:rPr>
              <a:t>paying ISVs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017520"/>
            <a:ext cx="354787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70" b="0">
                <a:solidFill>
                  <a:srgbClr val="D9E8E1"/>
                </a:solidFill>
                <a:latin typeface="Aptos"/>
              </a:rPr>
              <a:t>at 30k workflows per ISV / month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47872"/>
            <a:ext cx="3895344" cy="12435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D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3694176"/>
            <a:ext cx="352044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19" b="1">
                <a:solidFill>
                  <a:srgbClr val="225950"/>
                </a:solidFill>
                <a:latin typeface="Aptos"/>
              </a:rPr>
              <a:t>EQUIVALENT REQUIRED VOLUME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3931920"/>
            <a:ext cx="19659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900" b="1">
                <a:solidFill>
                  <a:srgbClr val="182B2B"/>
                </a:solidFill>
                <a:latin typeface="Aptos Display"/>
              </a:rPr>
              <a:t>5.58M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52344" y="4096512"/>
            <a:ext cx="1545336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>
                <a:solidFill>
                  <a:srgbClr val="182B2B"/>
                </a:solidFill>
                <a:latin typeface="Aptos"/>
              </a:rPr>
              <a:t>monthly workflows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4526280"/>
            <a:ext cx="36118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>
                <a:solidFill>
                  <a:srgbClr val="65716E"/>
                </a:solidFill>
                <a:latin typeface="Aptos"/>
              </a:rPr>
              <a:t>vs. 1.50M in the base scenario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36592" y="1993392"/>
            <a:ext cx="6821424" cy="2816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D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74336" y="2139696"/>
            <a:ext cx="6355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40" b="1">
                <a:solidFill>
                  <a:srgbClr val="225950"/>
                </a:solidFill>
                <a:latin typeface="Aptos"/>
              </a:rPr>
              <a:t>MONTH-12 ANNUALIZED API BILLINGS  •  EXAMPLE SENSITIVITY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2578608"/>
            <a:ext cx="24231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10" b="0">
                <a:solidFill>
                  <a:srgbClr val="182B2B"/>
                </a:solidFill>
                <a:latin typeface="Aptos"/>
              </a:rPr>
              <a:t>50 ISVs • baseline usage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62088" y="2615184"/>
            <a:ext cx="2761488" cy="173736"/>
          </a:xfrm>
          <a:prstGeom prst="roundRect">
            <a:avLst>
              <a:gd name="adj" fmla="val 8000"/>
            </a:avLst>
          </a:prstGeom>
          <a:solidFill>
            <a:srgbClr val="E7E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562088" y="2615184"/>
            <a:ext cx="690372" cy="173736"/>
          </a:xfrm>
          <a:prstGeom prst="roundRect">
            <a:avLst>
              <a:gd name="adj" fmla="val 8000"/>
            </a:avLst>
          </a:prstGeom>
          <a:solidFill>
            <a:srgbClr val="357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51592" y="2569464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10" b="1">
                <a:solidFill>
                  <a:srgbClr val="182B2B"/>
                </a:solidFill>
                <a:latin typeface="Aptos"/>
              </a:rPr>
              <a:t>$269k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3310128"/>
            <a:ext cx="24231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10" b="0">
                <a:solidFill>
                  <a:srgbClr val="182B2B"/>
                </a:solidFill>
                <a:latin typeface="Aptos"/>
              </a:rPr>
              <a:t>50 ISVs • 2× workflow intensity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62088" y="3346704"/>
            <a:ext cx="2761488" cy="173736"/>
          </a:xfrm>
          <a:prstGeom prst="roundRect">
            <a:avLst>
              <a:gd name="adj" fmla="val 8000"/>
            </a:avLst>
          </a:prstGeom>
          <a:solidFill>
            <a:srgbClr val="E7E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562088" y="3346704"/>
            <a:ext cx="1380744" cy="173736"/>
          </a:xfrm>
          <a:prstGeom prst="roundRect">
            <a:avLst>
              <a:gd name="adj" fmla="val 8000"/>
            </a:avLst>
          </a:prstGeom>
          <a:solidFill>
            <a:srgbClr val="357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51592" y="3300984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10" b="1">
                <a:solidFill>
                  <a:srgbClr val="182B2B"/>
                </a:solidFill>
                <a:latin typeface="Aptos"/>
              </a:rPr>
              <a:t>$538k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4041648"/>
            <a:ext cx="24231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10" b="0">
                <a:solidFill>
                  <a:srgbClr val="182B2B"/>
                </a:solidFill>
                <a:latin typeface="Aptos"/>
              </a:rPr>
              <a:t>50 ISVs • 4× workflow intensity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62088" y="4078224"/>
            <a:ext cx="2761488" cy="173736"/>
          </a:xfrm>
          <a:prstGeom prst="roundRect">
            <a:avLst>
              <a:gd name="adj" fmla="val 8000"/>
            </a:avLst>
          </a:prstGeom>
          <a:solidFill>
            <a:srgbClr val="E7E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562088" y="4078224"/>
            <a:ext cx="2761488" cy="173736"/>
          </a:xfrm>
          <a:prstGeom prst="roundRect">
            <a:avLst>
              <a:gd name="adj" fmla="val 8000"/>
            </a:avLst>
          </a:prstGeom>
          <a:solidFill>
            <a:srgbClr val="D27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51592" y="4032504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10" b="1">
                <a:solidFill>
                  <a:srgbClr val="182B2B"/>
                </a:solidFill>
                <a:latin typeface="Aptos"/>
              </a:rPr>
              <a:t>$1.075M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113264" y="2468880"/>
            <a:ext cx="0" cy="1993392"/>
          </a:xfrm>
          <a:prstGeom prst="line">
            <a:avLst/>
          </a:prstGeom>
          <a:ln w="15240">
            <a:solidFill>
              <a:srgbClr val="AE58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034272" y="4599432"/>
            <a:ext cx="2157984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90" b="0">
                <a:solidFill>
                  <a:srgbClr val="AE583D"/>
                </a:solidFill>
                <a:latin typeface="Aptos"/>
              </a:rPr>
              <a:t>$1M ARR equivalent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038344"/>
            <a:ext cx="10917936" cy="685800"/>
          </a:xfrm>
          <a:prstGeom prst="roundRect">
            <a:avLst>
              <a:gd name="adj" fmla="val 8000"/>
            </a:avLst>
          </a:prstGeom>
          <a:solidFill>
            <a:srgbClr val="FFF2E1"/>
          </a:solidFill>
          <a:ln w="10160">
            <a:solidFill>
              <a:srgbClr val="EE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5148072"/>
            <a:ext cx="3922776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19" b="1">
                <a:solidFill>
                  <a:srgbClr val="AE583D"/>
                </a:solidFill>
                <a:latin typeface="Aptos"/>
              </a:rPr>
              <a:t>DOWNSTREAM ISV DOWNSIDE  •  BASE CASE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404104"/>
            <a:ext cx="9966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>
                <a:solidFill>
                  <a:srgbClr val="182B2B"/>
                </a:solidFill>
                <a:latin typeface="Aptos"/>
              </a:rPr>
              <a:t>30,000 modeled workflows / ISV / month vs. 31,558 needed to break even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" y="5925312"/>
            <a:ext cx="1089964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 b="1">
                <a:solidFill>
                  <a:srgbClr val="225950"/>
                </a:solidFill>
                <a:latin typeface="Aptos"/>
              </a:rPr>
              <a:t>Decision rule: validate paid demand, workflow frequency, buyer ROI, implementation costs and unit economics before allocating scale capital.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" y="6254496"/>
            <a:ext cx="10890504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90" b="0">
                <a:solidFill>
                  <a:srgbClr val="65716E"/>
                </a:solidFill>
                <a:latin typeface="Aptos"/>
              </a:rPr>
              <a:t>All figures are modeled; no Anthropic infrastructure COGS or recognized revenue.  $1M is an illustrative milestone, not an internal target.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8872"/>
          </a:xfrm>
          <a:prstGeom prst="rect">
            <a:avLst/>
          </a:prstGeom>
          <a:solidFill>
            <a:srgbClr val="225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930" b="1">
                <a:solidFill>
                  <a:srgbClr val="225950"/>
                </a:solidFill>
                <a:latin typeface="Aptos"/>
              </a:rPr>
              <a:t>12 / CHANNEL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972800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2B2B"/>
                </a:solidFill>
                <a:latin typeface="Aptos Display"/>
              </a:rPr>
              <a:t>Different channels solve different commercial problems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62456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65716E"/>
                </a:solidFill>
                <a:latin typeface="Aptos"/>
              </a:rPr>
              <a:t>Avoid channel double-counting. Choose the route based on developer adoption, buyer procurement and data-processing needs.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47104"/>
            <a:ext cx="11009376" cy="14630"/>
          </a:xfrm>
          <a:prstGeom prst="rect">
            <a:avLst/>
          </a:prstGeom>
          <a:solidFill>
            <a:srgbClr val="CFD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638544"/>
            <a:ext cx="7589520" cy="155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65716E"/>
                </a:solidFill>
                <a:latin typeface="Aptos"/>
              </a:rPr>
              <a:t>CHARTGROUND  /  M6  •  INDEPENDENT EXECUTIVE INVESTMENT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6064" y="6638544"/>
            <a:ext cx="1920240" cy="155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810" b="0">
                <a:solidFill>
                  <a:srgbClr val="65716E"/>
                </a:solidFill>
                <a:latin typeface="Aptos"/>
              </a:rPr>
              <a:t>OCT 2026     /    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47088"/>
            <a:ext cx="10927080" cy="804672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795">
            <a:solidFill>
              <a:srgbClr val="CF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672" y="2002536"/>
            <a:ext cx="438912" cy="429768"/>
          </a:xfrm>
          <a:prstGeom prst="roundRect">
            <a:avLst>
              <a:gd name="adj" fmla="val 7500"/>
            </a:avLst>
          </a:prstGeom>
          <a:solidFill>
            <a:srgbClr val="225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2103120"/>
            <a:ext cx="22860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8" y="2002536"/>
            <a:ext cx="1883664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225950"/>
                </a:solidFill>
                <a:latin typeface="Aptos"/>
              </a:rPr>
              <a:t>DIRECT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9272" y="1938528"/>
            <a:ext cx="2761488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20" b="1">
                <a:solidFill>
                  <a:srgbClr val="182B2B"/>
                </a:solidFill>
                <a:latin typeface="Aptos"/>
              </a:rPr>
              <a:t>Developer-led entry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62472" y="1993392"/>
            <a:ext cx="5221224" cy="4937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5716E"/>
                </a:solidFill>
                <a:latin typeface="Aptos"/>
              </a:rPr>
              <a:t>Quickstarts, evaluation, direct telemetry; verify applicable BAA and eligible features.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07208"/>
            <a:ext cx="10927080" cy="804672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795">
            <a:solidFill>
              <a:srgbClr val="CF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" y="2962656"/>
            <a:ext cx="438912" cy="429768"/>
          </a:xfrm>
          <a:prstGeom prst="roundRect">
            <a:avLst>
              <a:gd name="adj" fmla="val 7500"/>
            </a:avLst>
          </a:prstGeom>
          <a:solidFill>
            <a:srgbClr val="225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" y="3063240"/>
            <a:ext cx="22860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35608" y="2962656"/>
            <a:ext cx="1883664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225950"/>
                </a:solidFill>
                <a:latin typeface="Aptos"/>
              </a:rPr>
              <a:t>CLOUD PROCUREMENT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9272" y="2898648"/>
            <a:ext cx="2761488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20" b="1">
                <a:solidFill>
                  <a:srgbClr val="182B2B"/>
                </a:solidFill>
                <a:latin typeface="Aptos"/>
              </a:rPr>
              <a:t>Bedrock / Microsoft / Google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62472" y="2953512"/>
            <a:ext cx="5221224" cy="4937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5716E"/>
                </a:solidFill>
                <a:latin typeface="Aptos"/>
              </a:rPr>
              <a:t>Buyer identity, contracting and cloud preferences; eligibility differs by operator and channel.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767328"/>
            <a:ext cx="10927080" cy="804672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795">
            <a:solidFill>
              <a:srgbClr val="CF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2" y="3922776"/>
            <a:ext cx="438912" cy="429768"/>
          </a:xfrm>
          <a:prstGeom prst="roundRect">
            <a:avLst>
              <a:gd name="adj" fmla="val 7500"/>
            </a:avLst>
          </a:prstGeom>
          <a:solidFill>
            <a:srgbClr val="225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023360"/>
            <a:ext cx="22860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35608" y="3922776"/>
            <a:ext cx="1883664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225950"/>
                </a:solidFill>
                <a:latin typeface="Aptos"/>
              </a:rPr>
              <a:t>IMPLEMENTATION PARTNERS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9272" y="3858768"/>
            <a:ext cx="2761488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20" b="1">
                <a:solidFill>
                  <a:srgbClr val="182B2B"/>
                </a:solidFill>
                <a:latin typeface="Aptos"/>
              </a:rPr>
              <a:t>Existing Claude ecosystem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62472" y="3913632"/>
            <a:ext cx="5221224" cy="4937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5716E"/>
                </a:solidFill>
                <a:latin typeface="Aptos"/>
              </a:rPr>
              <a:t>Consider TCS / qualified firms only when customer integration need is confirmed.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727448"/>
            <a:ext cx="10927080" cy="804672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795">
            <a:solidFill>
              <a:srgbClr val="CF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04672" y="4882896"/>
            <a:ext cx="438912" cy="429768"/>
          </a:xfrm>
          <a:prstGeom prst="roundRect">
            <a:avLst>
              <a:gd name="adj" fmla="val 7500"/>
            </a:avLst>
          </a:prstGeom>
          <a:solidFill>
            <a:srgbClr val="225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" y="4983480"/>
            <a:ext cx="22860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4882896"/>
            <a:ext cx="1883664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225950"/>
                </a:solidFill>
                <a:latin typeface="Aptos"/>
              </a:rPr>
              <a:t>ONCOLOGY DISTRIBUTION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19272" y="4818888"/>
            <a:ext cx="2761488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20" b="1">
                <a:solidFill>
                  <a:srgbClr val="182B2B"/>
                </a:solidFill>
                <a:latin typeface="Aptos"/>
              </a:rPr>
              <a:t>Incumbents later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62472" y="4873752"/>
            <a:ext cx="5221224" cy="4937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5716E"/>
                </a:solidFill>
                <a:latin typeface="Aptos"/>
              </a:rPr>
              <a:t>Flatiron, RaySearch, Elekta, Varian after repeatable workflow and buyer ROI are proven.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" y="5961888"/>
            <a:ext cx="10945368" cy="310896"/>
          </a:xfrm>
          <a:prstGeom prst="roundRect">
            <a:avLst>
              <a:gd name="adj" fmla="val 7500"/>
            </a:avLst>
          </a:prstGeom>
          <a:solidFill>
            <a:srgbClr val="10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6053328"/>
            <a:ext cx="102412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FFFFFF"/>
                </a:solidFill>
                <a:latin typeface="Aptos"/>
              </a:rPr>
              <a:t>COMMERCIAL RULE  Count each consumption event once; downstream ISV subscription fees ≠ Claude API billings.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8872"/>
          </a:xfrm>
          <a:prstGeom prst="rect">
            <a:avLst/>
          </a:prstGeom>
          <a:solidFill>
            <a:srgbClr val="225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05840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930" b="1">
                <a:solidFill>
                  <a:srgbClr val="225950"/>
                </a:solidFill>
                <a:latin typeface="Aptos"/>
              </a:rPr>
              <a:t>13 / ENTERPRISE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1018520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82B2B"/>
                </a:solidFill>
                <a:latin typeface="Aptos Display"/>
              </a:rPr>
              <a:t>Three no-go gates before processing any PHI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62456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5716E"/>
                </a:solidFill>
                <a:latin typeface="Aptos"/>
              </a:rPr>
              <a:t>ChartGround M1–M5 tests demonstrate local functionality—not a BAA, clinical clearance or production approval.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47104"/>
            <a:ext cx="11009376" cy="14630"/>
          </a:xfrm>
          <a:prstGeom prst="rect">
            <a:avLst/>
          </a:prstGeom>
          <a:solidFill>
            <a:srgbClr val="CFD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638544"/>
            <a:ext cx="6400800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65716E"/>
                </a:solidFill>
                <a:latin typeface="Aptos"/>
              </a:rPr>
              <a:t>CHARTGROUND  /  M6    •    INDEPENDENT STRATEGY HYPOTHESIS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6638544"/>
            <a:ext cx="1965960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810" b="0">
                <a:solidFill>
                  <a:srgbClr val="65716E"/>
                </a:solidFill>
                <a:latin typeface="Aptos"/>
              </a:rPr>
              <a:t>OCT 2026     /    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956816"/>
            <a:ext cx="3520440" cy="1993392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1430">
            <a:solidFill>
              <a:srgbClr val="CF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95528" y="2148840"/>
            <a:ext cx="758952" cy="265176"/>
          </a:xfrm>
          <a:prstGeom prst="roundRect">
            <a:avLst>
              <a:gd name="adj" fmla="val 7500"/>
            </a:avLst>
          </a:prstGeom>
          <a:solidFill>
            <a:srgbClr val="FCF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221992"/>
            <a:ext cx="621792" cy="1188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B2573F"/>
                </a:solidFill>
                <a:latin typeface="Aptos"/>
              </a:rPr>
              <a:t>NO-GO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578608"/>
            <a:ext cx="3182112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182B2B"/>
                </a:solidFill>
                <a:latin typeface="Aptos"/>
              </a:rPr>
              <a:t>Agreement + eligible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3182112"/>
            <a:ext cx="3182112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5" b="0">
                <a:solidFill>
                  <a:srgbClr val="65716E"/>
                </a:solidFill>
                <a:latin typeface="Aptos"/>
              </a:rPr>
              <a:t>Executed agreement, enabled organization, supported model/tools, verified feature coverage and retention.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1956816"/>
            <a:ext cx="3520440" cy="1993392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1430">
            <a:solidFill>
              <a:srgbClr val="CF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07992" y="2148840"/>
            <a:ext cx="758952" cy="265176"/>
          </a:xfrm>
          <a:prstGeom prst="roundRect">
            <a:avLst>
              <a:gd name="adj" fmla="val 7500"/>
            </a:avLst>
          </a:prstGeom>
          <a:solidFill>
            <a:srgbClr val="FCF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9432" y="2221992"/>
            <a:ext cx="621792" cy="1188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B2573F"/>
                </a:solidFill>
                <a:latin typeface="Aptos"/>
              </a:rPr>
              <a:t>NO-GO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2578608"/>
            <a:ext cx="3182112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182B2B"/>
                </a:solidFill>
                <a:latin typeface="Aptos"/>
              </a:rPr>
              <a:t>Approved end-to-end data flows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3182112"/>
            <a:ext cx="3182112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5" b="0">
                <a:solidFill>
                  <a:srgbClr val="65716E"/>
                </a:solidFill>
                <a:latin typeface="Aptos"/>
              </a:rPr>
              <a:t>Map prompts, logs, metadata, subprocessors and connectors; complete legal, privacy and security reviews.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956816"/>
            <a:ext cx="3520440" cy="1993392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1430">
            <a:solidFill>
              <a:srgbClr val="CF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0456" y="2148840"/>
            <a:ext cx="758952" cy="265176"/>
          </a:xfrm>
          <a:prstGeom prst="roundRect">
            <a:avLst>
              <a:gd name="adj" fmla="val 7500"/>
            </a:avLst>
          </a:prstGeom>
          <a:solidFill>
            <a:srgbClr val="FCF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11896" y="2221992"/>
            <a:ext cx="621792" cy="1188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B2573F"/>
                </a:solidFill>
                <a:latin typeface="Aptos"/>
              </a:rPr>
              <a:t>NO-GO 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2578608"/>
            <a:ext cx="3182112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182B2B"/>
                </a:solidFill>
                <a:latin typeface="Aptos"/>
              </a:rPr>
              <a:t>Clinical intended use + safety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3182112"/>
            <a:ext cx="3182112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5" b="0">
                <a:solidFill>
                  <a:srgbClr val="65716E"/>
                </a:solidFill>
                <a:latin typeface="Aptos"/>
              </a:rPr>
              <a:t>Define intended use; assess applicable FDA scope; establish blinded evaluations, clinician oversight and approval.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" y="4187952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5950"/>
                </a:solidFill>
                <a:latin typeface="Aptos"/>
              </a:rPr>
              <a:t>ADDITIONAL PRODUCTION GATES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4553712"/>
            <a:ext cx="5413248" cy="512064"/>
          </a:xfrm>
          <a:prstGeom prst="roundRect">
            <a:avLst>
              <a:gd name="adj" fmla="val 7500"/>
            </a:avLst>
          </a:prstGeom>
          <a:solidFill>
            <a:srgbClr val="EF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636008"/>
            <a:ext cx="1938528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25950"/>
                </a:solidFill>
                <a:latin typeface="Aptos"/>
              </a:rPr>
              <a:t>IDENTITY + SECURITY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33472" y="4626864"/>
            <a:ext cx="3264408" cy="3749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82B2B"/>
                </a:solidFill>
                <a:latin typeface="Aptos"/>
              </a:rPr>
              <a:t>Independent threat model, tenant testing and penetration testing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9631" y="4553712"/>
            <a:ext cx="5413248" cy="512064"/>
          </a:xfrm>
          <a:prstGeom prst="roundRect">
            <a:avLst>
              <a:gd name="adj" fmla="val 7500"/>
            </a:avLst>
          </a:prstGeom>
          <a:solidFill>
            <a:srgbClr val="EF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27647" y="4636008"/>
            <a:ext cx="1938528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25950"/>
                </a:solidFill>
                <a:latin typeface="Aptos"/>
              </a:rPr>
              <a:t>AUTHORIZED INTEGRATION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1312" y="4626864"/>
            <a:ext cx="3264408" cy="3749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82B2B"/>
                </a:solidFill>
                <a:latin typeface="Aptos"/>
              </a:rPr>
              <a:t>Contracted EHR access, test endpoints and partner approval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" y="5175504"/>
            <a:ext cx="5413248" cy="512064"/>
          </a:xfrm>
          <a:prstGeom prst="roundRect">
            <a:avLst>
              <a:gd name="adj" fmla="val 7500"/>
            </a:avLst>
          </a:prstGeom>
          <a:solidFill>
            <a:srgbClr val="EF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257800"/>
            <a:ext cx="1938528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25950"/>
                </a:solidFill>
                <a:latin typeface="Aptos"/>
              </a:rPr>
              <a:t>FINANCIAL INTEGRITY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33472" y="5248656"/>
            <a:ext cx="3264408" cy="3749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82B2B"/>
                </a:solidFill>
                <a:latin typeface="Aptos"/>
              </a:rPr>
              <a:t>Real invoice reconciliation; retry and exception controls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1" y="5175504"/>
            <a:ext cx="5413248" cy="512064"/>
          </a:xfrm>
          <a:prstGeom prst="roundRect">
            <a:avLst>
              <a:gd name="adj" fmla="val 7500"/>
            </a:avLst>
          </a:prstGeom>
          <a:solidFill>
            <a:srgbClr val="EF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27647" y="5257800"/>
            <a:ext cx="1938528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25950"/>
                </a:solidFill>
                <a:latin typeface="Aptos"/>
              </a:rPr>
              <a:t>OPERATIONS + PROCUREMENT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2" y="5248656"/>
            <a:ext cx="3264408" cy="3749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82B2B"/>
                </a:solidFill>
                <a:latin typeface="Aptos"/>
              </a:rPr>
              <a:t>Service levels, recovery, incident response and buyer review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" y="5934456"/>
            <a:ext cx="10972800" cy="320040"/>
          </a:xfrm>
          <a:prstGeom prst="roundRect">
            <a:avLst>
              <a:gd name="adj" fmla="val 7500"/>
            </a:avLst>
          </a:prstGeom>
          <a:solidFill>
            <a:srgbClr val="10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" y="6025896"/>
            <a:ext cx="10488168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Aptos"/>
              </a:rPr>
              <a:t>DEMO RULE   Synthetic/nonclinical data only until each applicable gate passes; modeled payouts and invoices are not commercial settlements.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8872"/>
          </a:xfrm>
          <a:prstGeom prst="rect">
            <a:avLst/>
          </a:prstGeom>
          <a:solidFill>
            <a:srgbClr val="225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930" b="1">
                <a:solidFill>
                  <a:srgbClr val="225950"/>
                </a:solidFill>
                <a:latin typeface="Aptos"/>
              </a:rPr>
              <a:t>14 / RISK-ADJUSTED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972800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2B2B"/>
                </a:solidFill>
                <a:latin typeface="Aptos Display"/>
              </a:rPr>
              <a:t>The downside case argues for discovery before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62456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65716E"/>
                </a:solidFill>
                <a:latin typeface="Aptos"/>
              </a:rPr>
              <a:t>Illustrative M6.2 / M6.6 billings—not Anthropic-recognized revenue or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47104"/>
            <a:ext cx="11009376" cy="14630"/>
          </a:xfrm>
          <a:prstGeom prst="rect">
            <a:avLst/>
          </a:prstGeom>
          <a:solidFill>
            <a:srgbClr val="CFD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638544"/>
            <a:ext cx="7589520" cy="155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65716E"/>
                </a:solidFill>
                <a:latin typeface="Aptos"/>
              </a:rPr>
              <a:t>CHARTGROUND  /  M6  •  INDEPENDENT EXECUTIVE INVESTMENT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6064" y="6638544"/>
            <a:ext cx="1920240" cy="155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810" b="0">
                <a:solidFill>
                  <a:srgbClr val="65716E"/>
                </a:solidFill>
                <a:latin typeface="Aptos"/>
              </a:rPr>
              <a:t>OCT 2026     /    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2002536"/>
            <a:ext cx="3456432" cy="1929384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795">
            <a:solidFill>
              <a:srgbClr val="CF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3" y="2194560"/>
            <a:ext cx="3081528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225950"/>
                </a:solidFill>
                <a:latin typeface="Aptos"/>
              </a:rPr>
              <a:t>BASE M6.2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3" y="2542032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82B2B"/>
                </a:solidFill>
                <a:latin typeface="Aptos Display"/>
              </a:rPr>
              <a:t>$125K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3" y="3218688"/>
            <a:ext cx="3081528" cy="5669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65716E"/>
                </a:solidFill>
                <a:latin typeface="Aptos"/>
              </a:rPr>
              <a:t>Base modeled year-one API billings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8264" y="2002536"/>
            <a:ext cx="3456432" cy="1929384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795">
            <a:solidFill>
              <a:srgbClr val="CF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2856" y="2194560"/>
            <a:ext cx="3081528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225950"/>
                </a:solidFill>
                <a:latin typeface="Aptos"/>
              </a:rPr>
              <a:t>VOLUME + PRICE STRESS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2542032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B2573F"/>
                </a:solidFill>
                <a:latin typeface="Aptos Display"/>
              </a:rPr>
              <a:t>$85K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3218688"/>
            <a:ext cx="3081528" cy="5669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65716E"/>
                </a:solidFill>
                <a:latin typeface="Aptos"/>
              </a:rPr>
              <a:t>75% workflow realization × 90% additional price realization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9016" y="2002536"/>
            <a:ext cx="3456432" cy="1929384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795">
            <a:solidFill>
              <a:srgbClr val="CF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2194560"/>
            <a:ext cx="3081528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225950"/>
                </a:solidFill>
                <a:latin typeface="Aptos"/>
              </a:rPr>
              <a:t>SUBJECTIVE SCENARIO WEIGHTS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542032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82B2B"/>
                </a:solidFill>
                <a:latin typeface="Aptos Display"/>
              </a:rPr>
              <a:t>$164K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3218688"/>
            <a:ext cx="3081528" cy="5669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65716E"/>
                </a:solidFill>
                <a:latin typeface="Aptos"/>
              </a:rPr>
              <a:t>60% conservative / 35% base / 5% expansion; not empirical probabilities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4187952"/>
            <a:ext cx="466344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225950"/>
                </a:solidFill>
                <a:latin typeface="Aptos"/>
              </a:rPr>
              <a:t>RELATIVE MODELED BILLINGS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4562856"/>
            <a:ext cx="2496312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82B2B"/>
                </a:solidFill>
                <a:latin typeface="Aptos"/>
              </a:rPr>
              <a:t>BASE M6.2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6120" y="4590288"/>
            <a:ext cx="5271357" cy="164592"/>
          </a:xfrm>
          <a:prstGeom prst="rect">
            <a:avLst/>
          </a:prstGeom>
          <a:solidFill>
            <a:srgbClr val="225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59568" y="4544568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182B2B"/>
                </a:solidFill>
                <a:latin typeface="Aptos"/>
              </a:rPr>
              <a:t>$125.4K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" y="4974336"/>
            <a:ext cx="2496312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82B2B"/>
                </a:solidFill>
                <a:latin typeface="Aptos"/>
              </a:rPr>
              <a:t>VOLUME + PRICE STRESS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46120" y="5001768"/>
            <a:ext cx="3558166" cy="164592"/>
          </a:xfrm>
          <a:prstGeom prst="rect">
            <a:avLst/>
          </a:prstGeom>
          <a:solidFill>
            <a:srgbClr val="D27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59568" y="4956048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182B2B"/>
                </a:solidFill>
                <a:latin typeface="Aptos"/>
              </a:rPr>
              <a:t>$84.7K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5385816"/>
            <a:ext cx="2496312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82B2B"/>
                </a:solidFill>
                <a:latin typeface="Aptos"/>
              </a:rPr>
              <a:t>SUBJECTIVE SCENARIO WEIGHTS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46120" y="5413248"/>
            <a:ext cx="6894576" cy="164592"/>
          </a:xfrm>
          <a:prstGeom prst="rect">
            <a:avLst/>
          </a:prstGeom>
          <a:solidFill>
            <a:srgbClr val="225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59568" y="5367528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182B2B"/>
                </a:solidFill>
                <a:latin typeface="Aptos"/>
              </a:rPr>
              <a:t>$164.0K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7512" y="5934456"/>
            <a:ext cx="10927080" cy="356616"/>
          </a:xfrm>
          <a:prstGeom prst="roundRect">
            <a:avLst>
              <a:gd name="adj" fmla="val 7500"/>
            </a:avLst>
          </a:prstGeom>
          <a:solidFill>
            <a:srgbClr val="FCF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605332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82B2B"/>
                </a:solidFill>
                <a:latin typeface="Aptos"/>
              </a:rPr>
              <a:t>NO GROSS MARGIN CLAIM: Internal inference costs, support, sales expense, contract terms and accounting data are unavailable.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5950"/>
          </a:solidFill>
          <a:ln w="12700">
            <a:solidFill>
              <a:srgbClr val="22595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931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30" b="1">
                <a:solidFill>
                  <a:srgbClr val="225950"/>
                </a:solidFill>
                <a:latin typeface="Aptos"/>
              </a:rPr>
              <a:t>15 / INVESTMENT DECISION</a:t>
            </a:r>
          </a:p>
        </p:txBody>
      </p:sp>
      <p:sp>
        <p:nvSpPr>
          <p:cNvPr id="4" name="Text 2"/>
          <p:cNvSpPr/>
          <p:nvPr/>
        </p:nvSpPr>
        <p:spPr>
          <a:xfrm>
            <a:off x="59436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500" b="1">
                <a:solidFill>
                  <a:srgbClr val="182B2B"/>
                </a:solidFill>
                <a:latin typeface="Aptos Display"/>
              </a:rPr>
              <a:t>Authorize 90-day validation; judge paid production at day 180</a:t>
            </a:r>
          </a:p>
        </p:txBody>
      </p:sp>
      <p:sp>
        <p:nvSpPr>
          <p:cNvPr id="5" name="Text 3"/>
          <p:cNvSpPr/>
          <p:nvPr/>
        </p:nvSpPr>
        <p:spPr>
          <a:xfrm>
            <a:off x="594360" y="13441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20">
                <a:solidFill>
                  <a:srgbClr val="65716E"/>
                </a:solidFill>
                <a:latin typeface="Aptos"/>
              </a:rPr>
              <a:t>Day 90 tests adoption, evaluation and readiness; true production conversion needs a mature 180-day cohort.</a:t>
            </a:r>
          </a:p>
        </p:txBody>
      </p:sp>
      <p:sp>
        <p:nvSpPr>
          <p:cNvPr id="6" name="Shape 4"/>
          <p:cNvSpPr/>
          <p:nvPr/>
        </p:nvSpPr>
        <p:spPr>
          <a:xfrm>
            <a:off x="594360" y="6547104"/>
            <a:ext cx="11009376" cy="0"/>
          </a:xfrm>
          <a:prstGeom prst="line">
            <a:avLst/>
          </a:prstGeom>
          <a:noFill/>
          <a:ln w="12700">
            <a:solidFill>
              <a:srgbClr val="DCE2DD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663854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spc="70" kern="0" dirty="0">
                <a:solidFill>
                  <a:srgbClr val="657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CHARTGROUND  /  M6    •    INDEPENDENT STRATEGY HYPOTHESIS</a:t>
            </a:r>
            <a:endParaRPr lang="en-US" sz="810" dirty="0"/>
          </a:p>
        </p:txBody>
      </p:sp>
      <p:sp>
        <p:nvSpPr>
          <p:cNvPr id="8" name="Text 6"/>
          <p:cNvSpPr/>
          <p:nvPr/>
        </p:nvSpPr>
        <p:spPr>
          <a:xfrm>
            <a:off x="9646920" y="6638544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810">
                <a:solidFill>
                  <a:srgbClr val="65716E"/>
                </a:solidFill>
                <a:latin typeface="Aptos"/>
              </a:rPr>
              <a:t>OCT 2026     /     16</a:t>
            </a:r>
          </a:p>
        </p:txBody>
      </p:sp>
      <p:sp>
        <p:nvSpPr>
          <p:cNvPr id="9" name="Shape 7"/>
          <p:cNvSpPr/>
          <p:nvPr/>
        </p:nvSpPr>
        <p:spPr>
          <a:xfrm>
            <a:off x="621792" y="1938528"/>
            <a:ext cx="3666744" cy="3328416"/>
          </a:xfrm>
          <a:prstGeom prst="roundRect">
            <a:avLst>
              <a:gd name="adj" fmla="val 2198"/>
            </a:avLst>
          </a:prstGeom>
          <a:solidFill>
            <a:srgbClr val="102828"/>
          </a:solidFill>
          <a:ln w="10160">
            <a:solidFill>
              <a:srgbClr val="10282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77824" y="22585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spc="130" kern="0" dirty="0">
                <a:solidFill>
                  <a:srgbClr val="E8B6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ASK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877824" y="2670048"/>
            <a:ext cx="31272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60" b="1">
                <a:solidFill>
                  <a:srgbClr val="FFFFFF"/>
                </a:solidFill>
                <a:latin typeface="Aptos"/>
              </a:rPr>
              <a:t>Approve bounded discovery, matched evaluation and channel readiness.</a:t>
            </a:r>
          </a:p>
        </p:txBody>
      </p:sp>
      <p:sp>
        <p:nvSpPr>
          <p:cNvPr id="12" name="Text 10"/>
          <p:cNvSpPr/>
          <p:nvPr/>
        </p:nvSpPr>
        <p:spPr>
          <a:xfrm>
            <a:off x="877824" y="4517136"/>
            <a:ext cx="31455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80">
                <a:solidFill>
                  <a:srgbClr val="D2DEDA"/>
                </a:solidFill>
                <a:latin typeface="Aptos"/>
              </a:rPr>
              <a:t>Oncology evidence synthesis is the first workflow; day-90 readiness ≠ production.</a:t>
            </a:r>
          </a:p>
        </p:txBody>
      </p:sp>
      <p:sp>
        <p:nvSpPr>
          <p:cNvPr id="13" name="Shape 11"/>
          <p:cNvSpPr/>
          <p:nvPr/>
        </p:nvSpPr>
        <p:spPr>
          <a:xfrm>
            <a:off x="4553712" y="1938528"/>
            <a:ext cx="7022592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0160">
            <a:solidFill>
              <a:srgbClr val="DCE2DD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736592" y="2103120"/>
            <a:ext cx="1097280" cy="283464"/>
          </a:xfrm>
          <a:prstGeom prst="roundRect">
            <a:avLst>
              <a:gd name="adj" fmla="val 25806"/>
            </a:avLst>
          </a:prstGeom>
          <a:solidFill>
            <a:srgbClr val="EFF2EC"/>
          </a:solidFill>
          <a:ln w="10160">
            <a:solidFill>
              <a:srgbClr val="EFF2E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846320" y="2135124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259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6007608" y="2029968"/>
            <a:ext cx="52669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10">
                <a:solidFill>
                  <a:srgbClr val="182B2B"/>
                </a:solidFill>
                <a:latin typeface="Aptos"/>
              </a:rPr>
              <a:t>6–8 real buyer/developer interviews; verify ≥2 repeated costly workflow problems</a:t>
            </a:r>
          </a:p>
        </p:txBody>
      </p:sp>
      <p:sp>
        <p:nvSpPr>
          <p:cNvPr id="17" name="Shape 15"/>
          <p:cNvSpPr/>
          <p:nvPr/>
        </p:nvSpPr>
        <p:spPr>
          <a:xfrm>
            <a:off x="4553712" y="2660904"/>
            <a:ext cx="7022592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0160">
            <a:solidFill>
              <a:srgbClr val="DCE2DD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736592" y="2825496"/>
            <a:ext cx="1097280" cy="283464"/>
          </a:xfrm>
          <a:prstGeom prst="roundRect">
            <a:avLst>
              <a:gd name="adj" fmla="val 25806"/>
            </a:avLst>
          </a:prstGeom>
          <a:solidFill>
            <a:srgbClr val="EFF2EC"/>
          </a:solidFill>
          <a:ln w="10160">
            <a:solidFill>
              <a:srgbClr val="EFF2E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846320" y="2857500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259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6007608" y="2752344"/>
            <a:ext cx="52669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>
                <a:solidFill>
                  <a:srgbClr val="182B2B"/>
                </a:solidFill>
                <a:latin typeface="Aptos"/>
              </a:rPr>
              <a:t>Blinded Claude / GPT / Gemini / no-AI workflow evaluation; seek a real sponsor</a:t>
            </a:r>
          </a:p>
        </p:txBody>
      </p:sp>
      <p:sp>
        <p:nvSpPr>
          <p:cNvPr id="21" name="Shape 19"/>
          <p:cNvSpPr/>
          <p:nvPr/>
        </p:nvSpPr>
        <p:spPr>
          <a:xfrm>
            <a:off x="4553712" y="3383280"/>
            <a:ext cx="7022592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0160">
            <a:solidFill>
              <a:srgbClr val="DCE2DD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736592" y="3547872"/>
            <a:ext cx="1097280" cy="283464"/>
          </a:xfrm>
          <a:prstGeom prst="roundRect">
            <a:avLst>
              <a:gd name="adj" fmla="val 25806"/>
            </a:avLst>
          </a:prstGeom>
          <a:solidFill>
            <a:srgbClr val="EFF2EC"/>
          </a:solidFill>
          <a:ln w="10160">
            <a:solidFill>
              <a:srgbClr val="EFF2E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846320" y="3579876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259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ECONOMICS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6007608" y="3474720"/>
            <a:ext cx="52669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>
                <a:solidFill>
                  <a:srgbClr val="182B2B"/>
                </a:solidFill>
                <a:latin typeface="Aptos"/>
              </a:rPr>
              <a:t>Re-estimate token usage, human review cost, ROI and downside-adjusted billings</a:t>
            </a:r>
          </a:p>
        </p:txBody>
      </p:sp>
      <p:sp>
        <p:nvSpPr>
          <p:cNvPr id="25" name="Shape 23"/>
          <p:cNvSpPr/>
          <p:nvPr/>
        </p:nvSpPr>
        <p:spPr>
          <a:xfrm>
            <a:off x="4553712" y="4105656"/>
            <a:ext cx="7022592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0160">
            <a:solidFill>
              <a:srgbClr val="DCE2DD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736592" y="4270248"/>
            <a:ext cx="1097280" cy="283464"/>
          </a:xfrm>
          <a:prstGeom prst="roundRect">
            <a:avLst>
              <a:gd name="adj" fmla="val 25806"/>
            </a:avLst>
          </a:prstGeom>
          <a:solidFill>
            <a:srgbClr val="EFF2EC"/>
          </a:solidFill>
          <a:ln w="10160">
            <a:solidFill>
              <a:srgbClr val="EFF2E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846320" y="4302252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259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6007608" y="4197096"/>
            <a:ext cx="52669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45">
                <a:solidFill>
                  <a:srgbClr val="182B2B"/>
                </a:solidFill>
                <a:latin typeface="Aptos"/>
              </a:rPr>
              <a:t>No PHI before BAA/feature, data-path and clinical intended-use approvals</a:t>
            </a:r>
          </a:p>
        </p:txBody>
      </p:sp>
      <p:sp>
        <p:nvSpPr>
          <p:cNvPr id="29" name="Shape 27"/>
          <p:cNvSpPr/>
          <p:nvPr/>
        </p:nvSpPr>
        <p:spPr>
          <a:xfrm>
            <a:off x="4553712" y="4828032"/>
            <a:ext cx="7022592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0160">
            <a:solidFill>
              <a:srgbClr val="DCE2DD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4736592" y="4992624"/>
            <a:ext cx="1097280" cy="283464"/>
          </a:xfrm>
          <a:prstGeom prst="roundRect">
            <a:avLst>
              <a:gd name="adj" fmla="val 25806"/>
            </a:avLst>
          </a:prstGeom>
          <a:solidFill>
            <a:srgbClr val="EFF2EC"/>
          </a:solidFill>
          <a:ln w="10160">
            <a:solidFill>
              <a:srgbClr val="EFF2E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846320" y="5024628"/>
            <a:ext cx="1000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790" b="1">
                <a:solidFill>
                  <a:srgbClr val="225950"/>
                </a:solidFill>
                <a:latin typeface="Aptos"/>
              </a:rPr>
              <a:t>D180 FOLLOW-UP</a:t>
            </a:r>
          </a:p>
        </p:txBody>
      </p:sp>
      <p:sp>
        <p:nvSpPr>
          <p:cNvPr id="32" name="Text 30"/>
          <p:cNvSpPr/>
          <p:nvPr/>
        </p:nvSpPr>
        <p:spPr>
          <a:xfrm>
            <a:off x="6007608" y="4919472"/>
            <a:ext cx="52669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35">
                <a:solidFill>
                  <a:srgbClr val="182B2B"/>
                </a:solidFill>
                <a:latin typeface="Aptos"/>
              </a:rPr>
              <a:t>D180: ≥30% paid go-live of mature pilots; ≥70% sustained usage of mature live ISVs</a:t>
            </a:r>
          </a:p>
        </p:txBody>
      </p:sp>
      <p:sp>
        <p:nvSpPr>
          <p:cNvPr id="33" name="Shape 31"/>
          <p:cNvSpPr/>
          <p:nvPr/>
        </p:nvSpPr>
        <p:spPr>
          <a:xfrm>
            <a:off x="630936" y="5751576"/>
            <a:ext cx="10936224" cy="493776"/>
          </a:xfrm>
          <a:prstGeom prst="roundRect">
            <a:avLst>
              <a:gd name="adj" fmla="val 14815"/>
            </a:avLst>
          </a:prstGeom>
          <a:solidFill>
            <a:srgbClr val="FFF2E1"/>
          </a:solidFill>
          <a:ln w="10160">
            <a:solidFill>
              <a:srgbClr val="E8C98F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813816" y="5861304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E5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 / PIVOT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148840" y="5852160"/>
            <a:ext cx="9208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>
                <a:solidFill>
                  <a:srgbClr val="182B2B"/>
                </a:solidFill>
                <a:latin typeface="Aptos"/>
              </a:rPr>
              <a:t>STOP / ITERATE if no buyer sponsor, poor blinded quality/ROI, unavailable PHI path or weak consumption economics.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5950"/>
          </a:solidFill>
          <a:ln w="12700">
            <a:solidFill>
              <a:srgbClr val="22595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931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spc="140" kern="0" dirty="0">
                <a:solidFill>
                  <a:srgbClr val="2259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A / PROOF OF EXECUTION</a:t>
            </a:r>
            <a:endParaRPr lang="en-US" sz="930" dirty="0"/>
          </a:p>
        </p:txBody>
      </p:sp>
      <p:sp>
        <p:nvSpPr>
          <p:cNvPr id="4" name="Text 2"/>
          <p:cNvSpPr/>
          <p:nvPr/>
        </p:nvSpPr>
        <p:spPr>
          <a:xfrm>
            <a:off x="59436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50" b="1" dirty="0">
                <a:solidFill>
                  <a:srgbClr val="182B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ChartGround M1–M5: working technical evidence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594360" y="13441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657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3-minute demo storyline — independent reference implementation, not a deployed commercial Anthropic product.</a:t>
            </a:r>
            <a:endParaRPr lang="en-US" sz="1420" dirty="0"/>
          </a:p>
        </p:txBody>
      </p:sp>
      <p:sp>
        <p:nvSpPr>
          <p:cNvPr id="6" name="Shape 4"/>
          <p:cNvSpPr/>
          <p:nvPr/>
        </p:nvSpPr>
        <p:spPr>
          <a:xfrm>
            <a:off x="594360" y="6547104"/>
            <a:ext cx="11009376" cy="0"/>
          </a:xfrm>
          <a:prstGeom prst="line">
            <a:avLst/>
          </a:prstGeom>
          <a:noFill/>
          <a:ln w="12700">
            <a:solidFill>
              <a:srgbClr val="DCE2DD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663854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spc="70" kern="0" dirty="0">
                <a:solidFill>
                  <a:srgbClr val="657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CHARTGROUND  /  M6    •    INDEPENDENT STRATEGY HYPOTHESIS</a:t>
            </a:r>
            <a:endParaRPr lang="en-US" sz="810" dirty="0"/>
          </a:p>
        </p:txBody>
      </p:sp>
      <p:sp>
        <p:nvSpPr>
          <p:cNvPr id="8" name="Text 6"/>
          <p:cNvSpPr/>
          <p:nvPr/>
        </p:nvSpPr>
        <p:spPr>
          <a:xfrm>
            <a:off x="9646920" y="6638544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810">
                <a:solidFill>
                  <a:srgbClr val="65716E"/>
                </a:solidFill>
                <a:latin typeface="Aptos"/>
              </a:rPr>
              <a:t>OCT 2026     /     17</a:t>
            </a:r>
          </a:p>
        </p:txBody>
      </p:sp>
      <p:sp>
        <p:nvSpPr>
          <p:cNvPr id="9" name="Shape 7"/>
          <p:cNvSpPr/>
          <p:nvPr/>
        </p:nvSpPr>
        <p:spPr>
          <a:xfrm>
            <a:off x="640080" y="2029968"/>
            <a:ext cx="202996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0160">
            <a:solidFill>
              <a:srgbClr val="DCE2DD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49808" y="2167128"/>
            <a:ext cx="484632" cy="283464"/>
          </a:xfrm>
          <a:prstGeom prst="roundRect">
            <a:avLst>
              <a:gd name="adj" fmla="val 25806"/>
            </a:avLst>
          </a:prstGeom>
          <a:solidFill>
            <a:srgbClr val="EFF2EC"/>
          </a:solidFill>
          <a:ln w="10160">
            <a:solidFill>
              <a:srgbClr val="EFF2E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59536" y="2199132"/>
            <a:ext cx="265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59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9808" y="2560320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Claude calls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49808" y="2862072"/>
            <a:ext cx="1746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57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/ escalation / usage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2852928" y="2029968"/>
            <a:ext cx="202996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0160">
            <a:solidFill>
              <a:srgbClr val="DCE2DD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2962656" y="2167128"/>
            <a:ext cx="484632" cy="283464"/>
          </a:xfrm>
          <a:prstGeom prst="roundRect">
            <a:avLst>
              <a:gd name="adj" fmla="val 25806"/>
            </a:avLst>
          </a:prstGeom>
          <a:solidFill>
            <a:srgbClr val="EFF2EC"/>
          </a:solidFill>
          <a:ln w="10160">
            <a:solidFill>
              <a:srgbClr val="EFF2E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072384" y="2199132"/>
            <a:ext cx="265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59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62656" y="2560320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Multi-tenancy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962656" y="2862072"/>
            <a:ext cx="1746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57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Tenant isolation / partner attribution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5065776" y="2029968"/>
            <a:ext cx="202996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0160">
            <a:solidFill>
              <a:srgbClr val="DCE2DD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175504" y="2167128"/>
            <a:ext cx="484632" cy="283464"/>
          </a:xfrm>
          <a:prstGeom prst="roundRect">
            <a:avLst>
              <a:gd name="adj" fmla="val 25806"/>
            </a:avLst>
          </a:prstGeom>
          <a:solidFill>
            <a:srgbClr val="EFF2EC"/>
          </a:solidFill>
          <a:ln w="10160">
            <a:solidFill>
              <a:srgbClr val="EFF2E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285232" y="2199132"/>
            <a:ext cx="265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59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75504" y="2560320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75504" y="2862072"/>
            <a:ext cx="1746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57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rates / simulated invoices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7278624" y="2029968"/>
            <a:ext cx="202996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0160">
            <a:solidFill>
              <a:srgbClr val="DCE2DD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388352" y="2167128"/>
            <a:ext cx="484632" cy="283464"/>
          </a:xfrm>
          <a:prstGeom prst="roundRect">
            <a:avLst>
              <a:gd name="adj" fmla="val 25806"/>
            </a:avLst>
          </a:prstGeom>
          <a:solidFill>
            <a:srgbClr val="EFF2EC"/>
          </a:solidFill>
          <a:ln w="10160">
            <a:solidFill>
              <a:srgbClr val="EFF2E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498080" y="2199132"/>
            <a:ext cx="265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59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88352" y="2560320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88352" y="2862072"/>
            <a:ext cx="1746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57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Budgets / quota reservations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9491472" y="2029968"/>
            <a:ext cx="202996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0160">
            <a:solidFill>
              <a:srgbClr val="DCE2DD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9601200" y="2167128"/>
            <a:ext cx="484632" cy="283464"/>
          </a:xfrm>
          <a:prstGeom prst="roundRect">
            <a:avLst>
              <a:gd name="adj" fmla="val 25806"/>
            </a:avLst>
          </a:prstGeom>
          <a:solidFill>
            <a:srgbClr val="EFF2EC"/>
          </a:solidFill>
          <a:ln w="10160">
            <a:solidFill>
              <a:srgbClr val="EFF2E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9710928" y="2199132"/>
            <a:ext cx="265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59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601200" y="2560320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601200" y="2862072"/>
            <a:ext cx="1746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57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Five-page dashboard / audit</a:t>
            </a:r>
            <a:endParaRPr lang="en-US" sz="1030" dirty="0"/>
          </a:p>
        </p:txBody>
      </p:sp>
      <p:sp>
        <p:nvSpPr>
          <p:cNvPr id="34" name="Shape 32"/>
          <p:cNvSpPr/>
          <p:nvPr/>
        </p:nvSpPr>
        <p:spPr>
          <a:xfrm>
            <a:off x="630936" y="3593592"/>
            <a:ext cx="10981944" cy="1188720"/>
          </a:xfrm>
          <a:prstGeom prst="roundRect">
            <a:avLst>
              <a:gd name="adj" fmla="val 6154"/>
            </a:avLst>
          </a:prstGeom>
          <a:solidFill>
            <a:srgbClr val="102828"/>
          </a:solidFill>
          <a:ln w="10160">
            <a:solidFill>
              <a:srgbClr val="10282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41248" y="3776472"/>
            <a:ext cx="2368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B6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DEMO SEQUENCE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41248" y="42062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ISV request</a:t>
            </a:r>
            <a:endParaRPr lang="en-US" sz="1310" dirty="0"/>
          </a:p>
        </p:txBody>
      </p:sp>
      <p:sp>
        <p:nvSpPr>
          <p:cNvPr id="37" name="Shape 35"/>
          <p:cNvSpPr/>
          <p:nvPr/>
        </p:nvSpPr>
        <p:spPr>
          <a:xfrm>
            <a:off x="3200400" y="4224528"/>
            <a:ext cx="192024" cy="256032"/>
          </a:xfrm>
          <a:prstGeom prst="chevron">
            <a:avLst/>
          </a:prstGeom>
          <a:solidFill>
            <a:srgbClr val="E8B66B"/>
          </a:solidFill>
          <a:ln w="12700">
            <a:solidFill>
              <a:srgbClr val="E8B66B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3520440" y="42062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Token + tenant meter</a:t>
            </a:r>
            <a:endParaRPr lang="en-US" sz="1310" dirty="0"/>
          </a:p>
        </p:txBody>
      </p:sp>
      <p:sp>
        <p:nvSpPr>
          <p:cNvPr id="39" name="Shape 37"/>
          <p:cNvSpPr/>
          <p:nvPr/>
        </p:nvSpPr>
        <p:spPr>
          <a:xfrm>
            <a:off x="5879592" y="4224528"/>
            <a:ext cx="192024" cy="256032"/>
          </a:xfrm>
          <a:prstGeom prst="chevron">
            <a:avLst/>
          </a:prstGeom>
          <a:solidFill>
            <a:srgbClr val="E8B66B"/>
          </a:solidFill>
          <a:ln w="12700">
            <a:solidFill>
              <a:srgbClr val="E8B66B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199632" y="42062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Policy / budget check</a:t>
            </a:r>
            <a:endParaRPr lang="en-US" sz="1310" dirty="0"/>
          </a:p>
        </p:txBody>
      </p:sp>
      <p:sp>
        <p:nvSpPr>
          <p:cNvPr id="41" name="Shape 39"/>
          <p:cNvSpPr/>
          <p:nvPr/>
        </p:nvSpPr>
        <p:spPr>
          <a:xfrm>
            <a:off x="8558784" y="4224528"/>
            <a:ext cx="192024" cy="256032"/>
          </a:xfrm>
          <a:prstGeom prst="chevron">
            <a:avLst/>
          </a:prstGeom>
          <a:solidFill>
            <a:srgbClr val="E8B66B"/>
          </a:solidFill>
          <a:ln w="12700">
            <a:solidFill>
              <a:srgbClr val="E8B66B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8878824" y="42062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 Dashboard + simulated invoice</a:t>
            </a:r>
            <a:endParaRPr lang="en-US" sz="1310" dirty="0"/>
          </a:p>
        </p:txBody>
      </p:sp>
      <p:sp>
        <p:nvSpPr>
          <p:cNvPr id="43" name="Text 41"/>
          <p:cNvSpPr/>
          <p:nvPr/>
        </p:nvSpPr>
        <p:spPr>
          <a:xfrm>
            <a:off x="722376" y="5129784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59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151</a:t>
            </a:r>
            <a:endParaRPr lang="en-US" sz="2700" dirty="0"/>
          </a:p>
        </p:txBody>
      </p:sp>
      <p:sp>
        <p:nvSpPr>
          <p:cNvPr id="44" name="Text 42"/>
          <p:cNvSpPr/>
          <p:nvPr/>
        </p:nvSpPr>
        <p:spPr>
          <a:xfrm>
            <a:off x="722376" y="5650992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57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offline tests passed</a:t>
            </a:r>
            <a:endParaRPr lang="en-US" sz="1120" dirty="0"/>
          </a:p>
        </p:txBody>
      </p:sp>
      <p:sp>
        <p:nvSpPr>
          <p:cNvPr id="45" name="Text 43"/>
          <p:cNvSpPr/>
          <p:nvPr/>
        </p:nvSpPr>
        <p:spPr>
          <a:xfrm>
            <a:off x="4379976" y="5129784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59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700" dirty="0"/>
          </a:p>
        </p:txBody>
      </p:sp>
      <p:sp>
        <p:nvSpPr>
          <p:cNvPr id="46" name="Text 44"/>
          <p:cNvSpPr/>
          <p:nvPr/>
        </p:nvSpPr>
        <p:spPr>
          <a:xfrm>
            <a:off x="4379976" y="5650992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57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isolated tenant views verified</a:t>
            </a:r>
            <a:endParaRPr lang="en-US" sz="1120" dirty="0"/>
          </a:p>
        </p:txBody>
      </p:sp>
      <p:sp>
        <p:nvSpPr>
          <p:cNvPr id="47" name="Text 45"/>
          <p:cNvSpPr/>
          <p:nvPr/>
        </p:nvSpPr>
        <p:spPr>
          <a:xfrm>
            <a:off x="8037576" y="5129784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59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2700" dirty="0"/>
          </a:p>
        </p:txBody>
      </p:sp>
      <p:sp>
        <p:nvSpPr>
          <p:cNvPr id="48" name="Text 46"/>
          <p:cNvSpPr/>
          <p:nvPr/>
        </p:nvSpPr>
        <p:spPr>
          <a:xfrm>
            <a:off x="8037576" y="5650992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57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paid Claude calls during M5 dashboard testing</a:t>
            </a:r>
            <a:endParaRPr lang="en-US" sz="1120" dirty="0"/>
          </a:p>
        </p:txBody>
      </p:sp>
      <p:sp>
        <p:nvSpPr>
          <p:cNvPr id="49" name="Text 47"/>
          <p:cNvSpPr/>
          <p:nvPr/>
        </p:nvSpPr>
        <p:spPr>
          <a:xfrm>
            <a:off x="667512" y="6236208"/>
            <a:ext cx="10972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57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M5 test counts describe local validation only. Billing and partner payouts are simulated; SQLite remains preserved; PostgreSQL migration is separate.</a:t>
            </a:r>
            <a:endParaRPr lang="en-US" sz="8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5950"/>
          </a:solidFill>
          <a:ln w="12700">
            <a:solidFill>
              <a:srgbClr val="22595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931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spc="140" kern="0" dirty="0">
                <a:solidFill>
                  <a:srgbClr val="2259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B / ASSUMPTIONS &amp; DIFFERENTIATION</a:t>
            </a:r>
            <a:endParaRPr lang="en-US" sz="930" dirty="0"/>
          </a:p>
        </p:txBody>
      </p:sp>
      <p:sp>
        <p:nvSpPr>
          <p:cNvPr id="4" name="Text 2"/>
          <p:cNvSpPr/>
          <p:nvPr/>
        </p:nvSpPr>
        <p:spPr>
          <a:xfrm>
            <a:off x="59436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30" b="1" dirty="0">
                <a:solidFill>
                  <a:srgbClr val="182B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evidence, working product and commercial unknowns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594360" y="13441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30">
                <a:solidFill>
                  <a:srgbClr val="65716E"/>
                </a:solidFill>
                <a:latin typeface="Aptos"/>
              </a:rPr>
              <a:t>M6.5 introduces unverified model/channel differentiation; M6.6 adds explicit financial downside sensitivities.</a:t>
            </a:r>
          </a:p>
        </p:txBody>
      </p:sp>
      <p:sp>
        <p:nvSpPr>
          <p:cNvPr id="6" name="Shape 4"/>
          <p:cNvSpPr/>
          <p:nvPr/>
        </p:nvSpPr>
        <p:spPr>
          <a:xfrm>
            <a:off x="594360" y="6547104"/>
            <a:ext cx="11009376" cy="0"/>
          </a:xfrm>
          <a:prstGeom prst="line">
            <a:avLst/>
          </a:prstGeom>
          <a:noFill/>
          <a:ln w="12700">
            <a:solidFill>
              <a:srgbClr val="DCE2DD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663854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spc="70" kern="0" dirty="0">
                <a:solidFill>
                  <a:srgbClr val="657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CHARTGROUND  /  M6    •    INDEPENDENT STRATEGY HYPOTHESIS</a:t>
            </a:r>
            <a:endParaRPr lang="en-US" sz="810" dirty="0"/>
          </a:p>
        </p:txBody>
      </p:sp>
      <p:sp>
        <p:nvSpPr>
          <p:cNvPr id="8" name="Text 6"/>
          <p:cNvSpPr/>
          <p:nvPr/>
        </p:nvSpPr>
        <p:spPr>
          <a:xfrm>
            <a:off x="9646920" y="6638544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810">
                <a:solidFill>
                  <a:srgbClr val="65716E"/>
                </a:solidFill>
                <a:latin typeface="Aptos"/>
              </a:rPr>
              <a:t>OCT 2026     /     18</a:t>
            </a:r>
          </a:p>
        </p:txBody>
      </p:sp>
      <p:sp>
        <p:nvSpPr>
          <p:cNvPr id="9" name="Shape 7"/>
          <p:cNvSpPr/>
          <p:nvPr/>
        </p:nvSpPr>
        <p:spPr>
          <a:xfrm>
            <a:off x="640080" y="1892808"/>
            <a:ext cx="10927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0160">
            <a:solidFill>
              <a:srgbClr val="DCE2DD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832104" y="2112264"/>
            <a:ext cx="1298448" cy="283464"/>
          </a:xfrm>
          <a:prstGeom prst="roundRect">
            <a:avLst>
              <a:gd name="adj" fmla="val 25806"/>
            </a:avLst>
          </a:prstGeom>
          <a:solidFill>
            <a:srgbClr val="EFF2EC"/>
          </a:solidFill>
          <a:ln w="10160">
            <a:solidFill>
              <a:srgbClr val="EFF2E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41832" y="214426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2259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FACT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2350008" y="2011680"/>
            <a:ext cx="761695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8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Claude for Healthcare introduced Jan 2026; APIs, healthcare resources and partner ecosystem already exist.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10232136" y="2121408"/>
            <a:ext cx="1051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57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[1], [2], [3]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2642616"/>
            <a:ext cx="10927080" cy="685800"/>
          </a:xfrm>
          <a:prstGeom prst="roundRect">
            <a:avLst>
              <a:gd name="adj" fmla="val 10667"/>
            </a:avLst>
          </a:prstGeom>
          <a:solidFill>
            <a:srgbClr val="EFF2EC"/>
          </a:solidFill>
          <a:ln w="10160">
            <a:solidFill>
              <a:srgbClr val="DCE2DD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32104" y="2862072"/>
            <a:ext cx="1298448" cy="283464"/>
          </a:xfrm>
          <a:prstGeom prst="roundRect">
            <a:avLst>
              <a:gd name="adj" fmla="val 25806"/>
            </a:avLst>
          </a:prstGeom>
          <a:solidFill>
            <a:srgbClr val="EFF2EC"/>
          </a:solidFill>
          <a:ln w="10160">
            <a:solidFill>
              <a:srgbClr val="EFF2E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41832" y="2894076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2259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FACT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2350008" y="2761488"/>
            <a:ext cx="761695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8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M6.2 uses published Sonnet, Haiku and Opus 5.5 rates, with hypothetical 70/20/10 model shares.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10232136" y="2871216"/>
            <a:ext cx="1051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57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392424"/>
            <a:ext cx="10927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0160">
            <a:solidFill>
              <a:srgbClr val="DCE2DD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32104" y="3611880"/>
            <a:ext cx="1298448" cy="283464"/>
          </a:xfrm>
          <a:prstGeom prst="roundRect">
            <a:avLst>
              <a:gd name="adj" fmla="val 25806"/>
            </a:avLst>
          </a:prstGeom>
          <a:solidFill>
            <a:srgbClr val="EFF2EC"/>
          </a:solidFill>
          <a:ln w="10160">
            <a:solidFill>
              <a:srgbClr val="EFF2E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41832" y="3643884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2259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SOFTWARE</a:t>
            </a:r>
            <a:endParaRPr lang="en-US" sz="860" dirty="0"/>
          </a:p>
        </p:txBody>
      </p:sp>
      <p:sp>
        <p:nvSpPr>
          <p:cNvPr id="22" name="Text 20"/>
          <p:cNvSpPr/>
          <p:nvPr/>
        </p:nvSpPr>
        <p:spPr>
          <a:xfrm>
            <a:off x="2350008" y="3511296"/>
            <a:ext cx="761695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8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ChartGround M1–M5: real API calls, token ledger, tenant isolation, simulated invoices, budgets and dashboard.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10232136" y="3621024"/>
            <a:ext cx="1051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57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tests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4142232"/>
            <a:ext cx="10927080" cy="685800"/>
          </a:xfrm>
          <a:prstGeom prst="roundRect">
            <a:avLst>
              <a:gd name="adj" fmla="val 10667"/>
            </a:avLst>
          </a:prstGeom>
          <a:solidFill>
            <a:srgbClr val="EFF2EC"/>
          </a:solidFill>
          <a:ln w="10160">
            <a:solidFill>
              <a:srgbClr val="DCE2DD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32104" y="4361688"/>
            <a:ext cx="1298448" cy="283464"/>
          </a:xfrm>
          <a:prstGeom prst="roundRect">
            <a:avLst>
              <a:gd name="adj" fmla="val 25806"/>
            </a:avLst>
          </a:prstGeom>
          <a:solidFill>
            <a:srgbClr val="EFF2EC"/>
          </a:solidFill>
          <a:ln w="10160">
            <a:solidFill>
              <a:srgbClr val="EFF2E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41832" y="439369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2259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MODELED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2350008" y="4261104"/>
            <a:ext cx="761695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8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M6.2 M12: 10/50/200 paying ISVs; 30k/1.5M/20M workflows per month; discounts and partner economics modeled.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10232136" y="4370832"/>
            <a:ext cx="1051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57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Assumptions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4892040"/>
            <a:ext cx="10927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0160">
            <a:solidFill>
              <a:srgbClr val="DCE2DD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832104" y="5111496"/>
            <a:ext cx="1298448" cy="283464"/>
          </a:xfrm>
          <a:prstGeom prst="roundRect">
            <a:avLst>
              <a:gd name="adj" fmla="val 25806"/>
            </a:avLst>
          </a:prstGeom>
          <a:solidFill>
            <a:srgbClr val="FFF2E1"/>
          </a:solidFill>
          <a:ln w="10160">
            <a:solidFill>
              <a:srgbClr val="FFF2E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941832" y="5143500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AE5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M6.1 EVIDENCE</a:t>
            </a:r>
            <a:endParaRPr lang="en-US" sz="860" dirty="0"/>
          </a:p>
        </p:txBody>
      </p:sp>
      <p:sp>
        <p:nvSpPr>
          <p:cNvPr id="32" name="Text 30"/>
          <p:cNvSpPr/>
          <p:nvPr/>
        </p:nvSpPr>
        <p:spPr>
          <a:xfrm>
            <a:off x="2350008" y="5010912"/>
            <a:ext cx="761695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KLAS: differentiation beyond ambient notes. ONC: three EHR suppliers served &gt;80% of 2024 non-federal acute-care hospitals.</a:t>
            </a:r>
            <a:endParaRPr lang="en-US" sz="1220" dirty="0"/>
          </a:p>
        </p:txBody>
      </p:sp>
      <p:sp>
        <p:nvSpPr>
          <p:cNvPr id="33" name="Text 31"/>
          <p:cNvSpPr/>
          <p:nvPr/>
        </p:nvSpPr>
        <p:spPr>
          <a:xfrm>
            <a:off x="10232136" y="5120640"/>
            <a:ext cx="1051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dirty="0">
                <a:solidFill>
                  <a:srgbClr val="657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[7], [8]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" y="5916168"/>
            <a:ext cx="10936224" cy="320040"/>
          </a:xfrm>
          <a:prstGeom prst="roundRect">
            <a:avLst>
              <a:gd name="adj" fmla="val 22857"/>
            </a:avLst>
          </a:prstGeom>
          <a:solidFill>
            <a:srgbClr val="FFF2E1"/>
          </a:solidFill>
          <a:ln w="10160">
            <a:solidFill>
              <a:srgbClr val="EBCFA7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786384" y="5961888"/>
            <a:ext cx="10552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 b="1">
                <a:solidFill>
                  <a:srgbClr val="182B2B"/>
                </a:solidFill>
                <a:latin typeface="Aptos"/>
              </a:rPr>
              <a:t>M6.4–M6.6: 20 public profiles, no external interviews, no paired current-model benchmark and no approved PHI channel.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5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94360" y="6547104"/>
            <a:ext cx="11009376" cy="0"/>
          </a:xfrm>
          <a:prstGeom prst="line">
            <a:avLst/>
          </a:prstGeom>
          <a:ln w="8890">
            <a:solidFill>
              <a:srgbClr val="DD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94360" y="6620256"/>
            <a:ext cx="731520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10" b="0">
                <a:solidFill>
                  <a:srgbClr val="65716E"/>
                </a:solidFill>
                <a:latin typeface="Aptos"/>
              </a:rPr>
              <a:t>CHARTGROUND  /  M6    •    INDEPENDENT STRATEGY HYPOTHESIS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0928" y="6620256"/>
            <a:ext cx="1901952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10" b="0">
                <a:solidFill>
                  <a:srgbClr val="65716E"/>
                </a:solidFill>
                <a:latin typeface="Aptos"/>
              </a:rPr>
              <a:t>OCT 2026     /    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93192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30" b="1">
                <a:solidFill>
                  <a:srgbClr val="225950"/>
                </a:solidFill>
                <a:latin typeface="Aptos"/>
              </a:rPr>
              <a:t>APPENDIX C / M6.2 FINANCIAL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04088"/>
            <a:ext cx="1104595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50" b="1">
                <a:solidFill>
                  <a:srgbClr val="182B2B"/>
                </a:solidFill>
                <a:latin typeface="Aptos Display"/>
              </a:rPr>
              <a:t>Revenue forecasts require validated workloads—not assumed logos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62456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0">
                <a:solidFill>
                  <a:srgbClr val="65716E"/>
                </a:solidFill>
                <a:latin typeface="Aptos"/>
              </a:rPr>
              <a:t>M6.2 workbook: scenario inputs and modeled billings; all dollars are API usage charges, not recognized revenue.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" y="2020824"/>
            <a:ext cx="2057400" cy="429768"/>
          </a:xfrm>
          <a:prstGeom prst="rect">
            <a:avLst/>
          </a:prstGeom>
          <a:solidFill>
            <a:srgbClr val="10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093976"/>
            <a:ext cx="190195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60" b="1">
                <a:solidFill>
                  <a:srgbClr val="FFFFFF"/>
                </a:solidFill>
                <a:latin typeface="Aptos"/>
              </a:rPr>
              <a:t>SCENARIO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07792" y="2020824"/>
            <a:ext cx="1179576" cy="429768"/>
          </a:xfrm>
          <a:prstGeom prst="rect">
            <a:avLst/>
          </a:prstGeom>
          <a:solidFill>
            <a:srgbClr val="10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9232" y="2093976"/>
            <a:ext cx="102412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60" b="1">
                <a:solidFill>
                  <a:srgbClr val="FFFFFF"/>
                </a:solidFill>
                <a:latin typeface="Aptos"/>
              </a:rPr>
              <a:t>M12 PAID ISVs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2020824"/>
            <a:ext cx="1892807" cy="429768"/>
          </a:xfrm>
          <a:prstGeom prst="rect">
            <a:avLst/>
          </a:prstGeom>
          <a:solidFill>
            <a:srgbClr val="10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2093976"/>
            <a:ext cx="17373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60" b="1">
                <a:solidFill>
                  <a:srgbClr val="FFFFFF"/>
                </a:solidFill>
                <a:latin typeface="Aptos"/>
              </a:rPr>
              <a:t>M12 WORKFLOWS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020824"/>
            <a:ext cx="1673352" cy="429768"/>
          </a:xfrm>
          <a:prstGeom prst="rect">
            <a:avLst/>
          </a:prstGeom>
          <a:solidFill>
            <a:srgbClr val="10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093976"/>
            <a:ext cx="151790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60" b="1">
                <a:solidFill>
                  <a:srgbClr val="FFFFFF"/>
                </a:solidFill>
                <a:latin typeface="Aptos"/>
              </a:rPr>
              <a:t>M12 API BILLINGS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56448" y="2020824"/>
            <a:ext cx="1591056" cy="429768"/>
          </a:xfrm>
          <a:prstGeom prst="rect">
            <a:avLst/>
          </a:prstGeom>
          <a:solidFill>
            <a:srgbClr val="10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2093976"/>
            <a:ext cx="143560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60" b="1">
                <a:solidFill>
                  <a:srgbClr val="FFFFFF"/>
                </a:solidFill>
                <a:latin typeface="Aptos"/>
              </a:rPr>
              <a:t>YEAR-1 API BILLINGS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2952" y="2020824"/>
            <a:ext cx="1554480" cy="429768"/>
          </a:xfrm>
          <a:prstGeom prst="rect">
            <a:avLst/>
          </a:prstGeom>
          <a:solidFill>
            <a:srgbClr val="10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94392" y="2093976"/>
            <a:ext cx="139903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60" b="1">
                <a:solidFill>
                  <a:srgbClr val="FFFFFF"/>
                </a:solidFill>
                <a:latin typeface="Aptos"/>
              </a:rPr>
              <a:t>M12 ANNUALIZED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" y="2496312"/>
            <a:ext cx="2057400" cy="466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2587752"/>
            <a:ext cx="19019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>
                <a:solidFill>
                  <a:srgbClr val="182B2B"/>
                </a:solidFill>
                <a:latin typeface="Aptos"/>
              </a:rPr>
              <a:t>Conservative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07792" y="2496312"/>
            <a:ext cx="1179576" cy="466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99232" y="2587752"/>
            <a:ext cx="102412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0">
                <a:solidFill>
                  <a:srgbClr val="182B2B"/>
                </a:solidFill>
                <a:latin typeface="Aptos"/>
              </a:rPr>
              <a:t>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60" y="2496312"/>
            <a:ext cx="1892807" cy="466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2587752"/>
            <a:ext cx="17373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0">
                <a:solidFill>
                  <a:srgbClr val="182B2B"/>
                </a:solidFill>
                <a:latin typeface="Aptos"/>
              </a:rPr>
              <a:t>30k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2496312"/>
            <a:ext cx="1673352" cy="466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587752"/>
            <a:ext cx="151790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>
                <a:solidFill>
                  <a:srgbClr val="182B2B"/>
                </a:solidFill>
                <a:latin typeface="Aptos"/>
              </a:rPr>
              <a:t>$269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56448" y="2496312"/>
            <a:ext cx="1591056" cy="466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7888" y="2587752"/>
            <a:ext cx="143560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0">
                <a:solidFill>
                  <a:srgbClr val="182B2B"/>
                </a:solidFill>
                <a:latin typeface="Aptos"/>
              </a:rPr>
              <a:t>$1.5k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02952" y="2496312"/>
            <a:ext cx="1554480" cy="466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94392" y="2587752"/>
            <a:ext cx="139903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>
                <a:solidFill>
                  <a:srgbClr val="182B2B"/>
                </a:solidFill>
                <a:latin typeface="Aptos"/>
              </a:rPr>
              <a:t>$3.2k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4944" y="3017520"/>
            <a:ext cx="2057400" cy="466344"/>
          </a:xfrm>
          <a:prstGeom prst="rect">
            <a:avLst/>
          </a:prstGeom>
          <a:solidFill>
            <a:srgbClr val="EFF2EC"/>
          </a:solidFill>
          <a:ln w="10160">
            <a:solidFill>
              <a:srgbClr val="DD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" y="3108960"/>
            <a:ext cx="19019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>
                <a:solidFill>
                  <a:srgbClr val="225950"/>
                </a:solidFill>
                <a:latin typeface="Aptos"/>
              </a:rPr>
              <a:t>Base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07792" y="3017520"/>
            <a:ext cx="1179576" cy="466344"/>
          </a:xfrm>
          <a:prstGeom prst="rect">
            <a:avLst/>
          </a:prstGeom>
          <a:solidFill>
            <a:srgbClr val="EFF2EC"/>
          </a:solidFill>
          <a:ln w="10160">
            <a:solidFill>
              <a:srgbClr val="DD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99232" y="3108960"/>
            <a:ext cx="102412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0">
                <a:solidFill>
                  <a:srgbClr val="182B2B"/>
                </a:solidFill>
                <a:latin typeface="Aptos"/>
              </a:rPr>
              <a:t>50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51960" y="3017520"/>
            <a:ext cx="1892807" cy="466344"/>
          </a:xfrm>
          <a:prstGeom prst="rect">
            <a:avLst/>
          </a:prstGeom>
          <a:solidFill>
            <a:srgbClr val="EFF2EC"/>
          </a:solidFill>
          <a:ln w="10160">
            <a:solidFill>
              <a:srgbClr val="DD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43400" y="3108960"/>
            <a:ext cx="17373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0">
                <a:solidFill>
                  <a:srgbClr val="182B2B"/>
                </a:solidFill>
                <a:latin typeface="Aptos"/>
              </a:rPr>
              <a:t>1.50M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3017520"/>
            <a:ext cx="1673352" cy="466344"/>
          </a:xfrm>
          <a:prstGeom prst="rect">
            <a:avLst/>
          </a:prstGeom>
          <a:solidFill>
            <a:srgbClr val="EFF2EC"/>
          </a:solidFill>
          <a:ln w="10160">
            <a:solidFill>
              <a:srgbClr val="DD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3108960"/>
            <a:ext cx="151790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>
                <a:solidFill>
                  <a:srgbClr val="225950"/>
                </a:solidFill>
                <a:latin typeface="Aptos"/>
              </a:rPr>
              <a:t>$22.4k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56448" y="3017520"/>
            <a:ext cx="1591056" cy="466344"/>
          </a:xfrm>
          <a:prstGeom prst="rect">
            <a:avLst/>
          </a:prstGeom>
          <a:solidFill>
            <a:srgbClr val="EFF2EC"/>
          </a:solidFill>
          <a:ln w="10160">
            <a:solidFill>
              <a:srgbClr val="DD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47888" y="3108960"/>
            <a:ext cx="143560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0">
                <a:solidFill>
                  <a:srgbClr val="182B2B"/>
                </a:solidFill>
                <a:latin typeface="Aptos"/>
              </a:rPr>
              <a:t>$125.4k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902952" y="3017520"/>
            <a:ext cx="1554480" cy="466344"/>
          </a:xfrm>
          <a:prstGeom prst="rect">
            <a:avLst/>
          </a:prstGeom>
          <a:solidFill>
            <a:srgbClr val="EFF2EC"/>
          </a:solidFill>
          <a:ln w="10160">
            <a:solidFill>
              <a:srgbClr val="DD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94392" y="3108960"/>
            <a:ext cx="139903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>
                <a:solidFill>
                  <a:srgbClr val="225950"/>
                </a:solidFill>
                <a:latin typeface="Aptos"/>
              </a:rPr>
              <a:t>$268.8k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4944" y="3538728"/>
            <a:ext cx="2057400" cy="466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6384" y="3630168"/>
            <a:ext cx="19019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>
                <a:solidFill>
                  <a:srgbClr val="182B2B"/>
                </a:solidFill>
                <a:latin typeface="Aptos"/>
              </a:rPr>
              <a:t>Expansion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07792" y="3538728"/>
            <a:ext cx="1179576" cy="466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999232" y="3630168"/>
            <a:ext cx="102412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0">
                <a:solidFill>
                  <a:srgbClr val="182B2B"/>
                </a:solidFill>
                <a:latin typeface="Aptos"/>
              </a:rPr>
              <a:t>200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51960" y="3538728"/>
            <a:ext cx="1892807" cy="466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43400" y="3630168"/>
            <a:ext cx="17373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0">
                <a:solidFill>
                  <a:srgbClr val="182B2B"/>
                </a:solidFill>
                <a:latin typeface="Aptos"/>
              </a:rPr>
              <a:t>20.0M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09360" y="3538728"/>
            <a:ext cx="1673352" cy="466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0" y="3630168"/>
            <a:ext cx="151790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>
                <a:solidFill>
                  <a:srgbClr val="182B2B"/>
                </a:solidFill>
                <a:latin typeface="Aptos"/>
              </a:rPr>
              <a:t>$422.1k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56448" y="3538728"/>
            <a:ext cx="1591056" cy="466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47888" y="3630168"/>
            <a:ext cx="143560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0">
                <a:solidFill>
                  <a:srgbClr val="182B2B"/>
                </a:solidFill>
                <a:latin typeface="Aptos"/>
              </a:rPr>
              <a:t>$2.38M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902952" y="3538728"/>
            <a:ext cx="1554480" cy="466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994392" y="3630168"/>
            <a:ext cx="139903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>
                <a:solidFill>
                  <a:srgbClr val="182B2B"/>
                </a:solidFill>
                <a:latin typeface="Aptos"/>
              </a:rPr>
              <a:t>$5.07M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94944" y="4270248"/>
            <a:ext cx="5248656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D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86968" y="4407408"/>
            <a:ext cx="480974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30" b="1">
                <a:solidFill>
                  <a:srgbClr val="225950"/>
                </a:solidFill>
                <a:latin typeface="Aptos"/>
              </a:rPr>
              <a:t>MODEL ASSUMPTIONS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6968" y="4663440"/>
            <a:ext cx="472744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30" b="0">
                <a:solidFill>
                  <a:srgbClr val="182B2B"/>
                </a:solidFill>
                <a:latin typeface="Aptos"/>
              </a:rPr>
              <a:t>Model share: 70% Sonnet / 20% Haiku / 10% Opus 5.5; tokens, caching, retries, discounts and partner fees are editable hypotheses.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126480" y="4270248"/>
            <a:ext cx="5330952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D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27648" y="4407408"/>
            <a:ext cx="487375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30" b="1">
                <a:solidFill>
                  <a:srgbClr val="225950"/>
                </a:solidFill>
                <a:latin typeface="Aptos"/>
              </a:rPr>
              <a:t>PROVENANCE &amp; EXCLUSIONS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27648" y="4663440"/>
            <a:ext cx="481888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30" b="0">
                <a:solidFill>
                  <a:srgbClr val="182B2B"/>
                </a:solidFill>
                <a:latin typeface="Aptos"/>
              </a:rPr>
              <a:t>Published API rates; no verified Anthropic compute costs, enterprise terms, production conversion or real customer billings.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94944" y="5605272"/>
            <a:ext cx="10771632" cy="576072"/>
          </a:xfrm>
          <a:prstGeom prst="roundRect">
            <a:avLst>
              <a:gd name="adj" fmla="val 7000"/>
            </a:avLst>
          </a:prstGeom>
          <a:solidFill>
            <a:srgbClr val="FFF2E1"/>
          </a:solidFill>
          <a:ln w="10160">
            <a:solidFill>
              <a:srgbClr val="EE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59536" y="5733288"/>
            <a:ext cx="1045159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10" b="1">
                <a:solidFill>
                  <a:srgbClr val="182B2B"/>
                </a:solidFill>
                <a:latin typeface="Aptos"/>
              </a:rPr>
              <a:t>CAUTION: Year-1 billings sum a modeled 12-month ramp. Month-12 annualized billings equal 12 × Month-12 charges and are not year-one revenue.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3232" y="6300216"/>
            <a:ext cx="1076248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60" b="0">
                <a:solidFill>
                  <a:srgbClr val="65716E"/>
                </a:solidFill>
                <a:latin typeface="Aptos"/>
              </a:rPr>
              <a:t>Companion workbook: ChartGround_M6_2_Healthcare_API_Monetization_Revenue_Model.xlsx  •  Rate source: platform.claude.com/docs/en/about-claude/pricing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5950"/>
          </a:solidFill>
          <a:ln w="12700">
            <a:solidFill>
              <a:srgbClr val="22595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931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spc="140" kern="0" dirty="0">
                <a:solidFill>
                  <a:srgbClr val="2259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D / SOURCES</a:t>
            </a:r>
            <a:endParaRPr lang="en-US" sz="930" dirty="0"/>
          </a:p>
        </p:txBody>
      </p:sp>
      <p:sp>
        <p:nvSpPr>
          <p:cNvPr id="4" name="Text 2"/>
          <p:cNvSpPr/>
          <p:nvPr/>
        </p:nvSpPr>
        <p:spPr>
          <a:xfrm>
            <a:off x="59436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50" b="1" dirty="0">
                <a:solidFill>
                  <a:srgbClr val="182B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References, financial assumptions and source boundaries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594360" y="13441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80">
                <a:solidFill>
                  <a:srgbClr val="65716E"/>
                </a:solidFill>
                <a:latin typeface="Aptos"/>
              </a:rPr>
              <a:t>M6.1 market evidence + M6.2 modeling + M6.3 targets + M6.4 secondary account research.</a:t>
            </a:r>
          </a:p>
        </p:txBody>
      </p:sp>
      <p:sp>
        <p:nvSpPr>
          <p:cNvPr id="6" name="Shape 4"/>
          <p:cNvSpPr/>
          <p:nvPr/>
        </p:nvSpPr>
        <p:spPr>
          <a:xfrm>
            <a:off x="594360" y="6547104"/>
            <a:ext cx="11009376" cy="0"/>
          </a:xfrm>
          <a:prstGeom prst="line">
            <a:avLst/>
          </a:prstGeom>
          <a:noFill/>
          <a:ln w="12700">
            <a:solidFill>
              <a:srgbClr val="DCE2DD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663854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spc="70" kern="0" dirty="0">
                <a:solidFill>
                  <a:srgbClr val="657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CHARTGROUND  /  M6    •    INDEPENDENT STRATEGY HYPOTHESIS</a:t>
            </a:r>
            <a:endParaRPr lang="en-US" sz="810" dirty="0"/>
          </a:p>
        </p:txBody>
      </p:sp>
      <p:sp>
        <p:nvSpPr>
          <p:cNvPr id="8" name="Text 6"/>
          <p:cNvSpPr/>
          <p:nvPr/>
        </p:nvSpPr>
        <p:spPr>
          <a:xfrm>
            <a:off x="9646920" y="6638544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810">
                <a:solidFill>
                  <a:srgbClr val="65716E"/>
                </a:solidFill>
                <a:latin typeface="Aptos"/>
              </a:rPr>
              <a:t>OCT 2026     /     20</a:t>
            </a:r>
          </a:p>
        </p:txBody>
      </p:sp>
      <p:sp>
        <p:nvSpPr>
          <p:cNvPr id="9" name="Shape 7"/>
          <p:cNvSpPr/>
          <p:nvPr/>
        </p:nvSpPr>
        <p:spPr>
          <a:xfrm>
            <a:off x="658368" y="1938528"/>
            <a:ext cx="10899648" cy="443484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0160">
            <a:solidFill>
              <a:srgbClr val="DCE2D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32104" y="1975104"/>
            <a:ext cx="99669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18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  Anthropic — Claude for Healthcare (Jan 2026)</a:t>
            </a:r>
            <a:endParaRPr lang="en-US" sz="1230" dirty="0"/>
          </a:p>
        </p:txBody>
      </p:sp>
      <p:sp>
        <p:nvSpPr>
          <p:cNvPr id="11" name="Text 9">
            <a:hlinkClick r:id="rId1" tooltip=""/>
          </p:cNvPr>
          <p:cNvSpPr/>
          <p:nvPr/>
        </p:nvSpPr>
        <p:spPr>
          <a:xfrm>
            <a:off x="841248" y="2179929"/>
            <a:ext cx="102321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u="sng" dirty="0">
                <a:solidFill>
                  <a:srgbClr val="225950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https://www.anthropic.com/news/healthcare-life-sciences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658368" y="2427732"/>
            <a:ext cx="10899648" cy="443484"/>
          </a:xfrm>
          <a:prstGeom prst="roundRect">
            <a:avLst>
              <a:gd name="adj" fmla="val 13793"/>
            </a:avLst>
          </a:prstGeom>
          <a:solidFill>
            <a:srgbClr val="EFF2EC"/>
          </a:solidFill>
          <a:ln w="10160">
            <a:solidFill>
              <a:srgbClr val="DCE2DD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" y="2464308"/>
            <a:ext cx="99669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18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  Anthropic — Claude Partner Network (Mar 2026)</a:t>
            </a:r>
            <a:endParaRPr lang="en-US" sz="1230" dirty="0"/>
          </a:p>
        </p:txBody>
      </p:sp>
      <p:sp>
        <p:nvSpPr>
          <p:cNvPr id="14" name="Text 12">
            <a:hlinkClick r:id="rId2" tooltip=""/>
          </p:cNvPr>
          <p:cNvSpPr/>
          <p:nvPr/>
        </p:nvSpPr>
        <p:spPr>
          <a:xfrm>
            <a:off x="841248" y="2669133"/>
            <a:ext cx="102321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u="sng" dirty="0">
                <a:solidFill>
                  <a:srgbClr val="225950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https://www.anthropic.com/news/claude-partner-network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658368" y="2916936"/>
            <a:ext cx="10899648" cy="443484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0160">
            <a:solidFill>
              <a:srgbClr val="DCE2DD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32104" y="2953512"/>
            <a:ext cx="99669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18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  Anthropic — Healthcare developer references</a:t>
            </a:r>
            <a:endParaRPr lang="en-US" sz="1230" dirty="0"/>
          </a:p>
        </p:txBody>
      </p:sp>
      <p:sp>
        <p:nvSpPr>
          <p:cNvPr id="17" name="Text 15">
            <a:hlinkClick r:id="rId3" tooltip=""/>
          </p:cNvPr>
          <p:cNvSpPr/>
          <p:nvPr/>
        </p:nvSpPr>
        <p:spPr>
          <a:xfrm>
            <a:off x="841248" y="3158337"/>
            <a:ext cx="102321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u="sng" dirty="0">
                <a:solidFill>
                  <a:srgbClr val="225950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https://github.com/anthropics/healthcare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658368" y="3406140"/>
            <a:ext cx="10899648" cy="443484"/>
          </a:xfrm>
          <a:prstGeom prst="roundRect">
            <a:avLst>
              <a:gd name="adj" fmla="val 13793"/>
            </a:avLst>
          </a:prstGeom>
          <a:solidFill>
            <a:srgbClr val="EFF2EC"/>
          </a:solidFill>
          <a:ln w="10160">
            <a:solidFill>
              <a:srgbClr val="DCE2DD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32104" y="3442716"/>
            <a:ext cx="99669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18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  Anthropic — Claude API pricing (Oct 2026 reference)</a:t>
            </a:r>
            <a:endParaRPr lang="en-US" sz="1230" dirty="0"/>
          </a:p>
        </p:txBody>
      </p:sp>
      <p:sp>
        <p:nvSpPr>
          <p:cNvPr id="20" name="Text 18">
            <a:hlinkClick r:id="rId4" tooltip=""/>
          </p:cNvPr>
          <p:cNvSpPr/>
          <p:nvPr/>
        </p:nvSpPr>
        <p:spPr>
          <a:xfrm>
            <a:off x="841248" y="3647541"/>
            <a:ext cx="102321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u="sng" dirty="0">
                <a:solidFill>
                  <a:srgbClr val="225950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https://platform.claude.com/docs/en/about-claude/pricing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658368" y="3895344"/>
            <a:ext cx="10899648" cy="443484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0160">
            <a:solidFill>
              <a:srgbClr val="DCE2DD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32104" y="3931920"/>
            <a:ext cx="99669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18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[5]  Anthropic — Usage and Cost API</a:t>
            </a:r>
            <a:endParaRPr lang="en-US" sz="1230" dirty="0"/>
          </a:p>
        </p:txBody>
      </p:sp>
      <p:sp>
        <p:nvSpPr>
          <p:cNvPr id="23" name="Text 21">
            <a:hlinkClick r:id="rId5" tooltip=""/>
          </p:cNvPr>
          <p:cNvSpPr/>
          <p:nvPr/>
        </p:nvSpPr>
        <p:spPr>
          <a:xfrm>
            <a:off x="841248" y="4136745"/>
            <a:ext cx="102321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u="sng" dirty="0">
                <a:solidFill>
                  <a:srgbClr val="225950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https://platform.claude.com/docs/en/manage-claude/usage-cost-api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658368" y="4384548"/>
            <a:ext cx="10899648" cy="443484"/>
          </a:xfrm>
          <a:prstGeom prst="roundRect">
            <a:avLst>
              <a:gd name="adj" fmla="val 13793"/>
            </a:avLst>
          </a:prstGeom>
          <a:solidFill>
            <a:srgbClr val="EFF2EC"/>
          </a:solidFill>
          <a:ln w="10160">
            <a:solidFill>
              <a:srgbClr val="DCE2DD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32104" y="4421124"/>
            <a:ext cx="99669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18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[6]  Anthropic — Business Associate Agreements / eligible services</a:t>
            </a:r>
            <a:endParaRPr lang="en-US" sz="1230" dirty="0"/>
          </a:p>
        </p:txBody>
      </p:sp>
      <p:sp>
        <p:nvSpPr>
          <p:cNvPr id="26" name="Text 24">
            <a:hlinkClick r:id="rId6" tooltip=""/>
          </p:cNvPr>
          <p:cNvSpPr/>
          <p:nvPr/>
        </p:nvSpPr>
        <p:spPr>
          <a:xfrm>
            <a:off x="841248" y="4625949"/>
            <a:ext cx="102321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5" u="sng" dirty="0">
                <a:solidFill>
                  <a:srgbClr val="225950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https://support.claude.com/en/articles/8114513-business-associate-agreements-baa-for-commercial-customers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713232" y="6007608"/>
            <a:ext cx="107990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60">
                <a:solidFill>
                  <a:srgbClr val="65716E"/>
                </a:solidFill>
                <a:latin typeface="Aptos"/>
              </a:rPr>
              <a:t>Companion M6.1–M6.4 workbooks contain assumptions, accounts and evidence. No real Anthropic customers, PHI approvals or production conversion claimed.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873752"/>
            <a:ext cx="10899648" cy="4434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4910328"/>
            <a:ext cx="10058400" cy="1691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70" b="1">
                <a:solidFill>
                  <a:srgbClr val="1D322E"/>
                </a:solidFill>
                <a:latin typeface="Aptos"/>
              </a:rPr>
              <a:t>[7]  KLAS Research — Ambient AI 2026 (Oct 7, 2026)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5115153"/>
            <a:ext cx="10424160" cy="1554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15">
                <a:solidFill>
                  <a:srgbClr val="5C6E65"/>
                </a:solidFill>
                <a:latin typeface="Aptos"/>
              </a:rPr>
              <a:t>https://klasresearch.com/report/ambient-ai-2026-a-high-performing-market-shifts-as-ehr-native-tools-adjust-long-term-strategies/3982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362956"/>
            <a:ext cx="10899648" cy="443484"/>
          </a:xfrm>
          <a:prstGeom prst="roundRect">
            <a:avLst>
              <a:gd name="adj" fmla="val 8000"/>
            </a:avLst>
          </a:prstGeom>
          <a:solidFill>
            <a:srgbClr val="EF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" y="5399532"/>
            <a:ext cx="10058400" cy="1691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70" b="1">
                <a:solidFill>
                  <a:srgbClr val="1D322E"/>
                </a:solidFill>
                <a:latin typeface="Aptos"/>
              </a:rPr>
              <a:t>[8]  ONC — Hospital EHR Adoption, 2008–2024 (June 2026)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5604357"/>
            <a:ext cx="10424160" cy="1554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65">
                <a:solidFill>
                  <a:srgbClr val="5C6E65"/>
                </a:solidFill>
                <a:latin typeface="Aptos"/>
              </a:rPr>
              <a:t>https://healthit.gov/data/data-briefs/non-federal-acute-care-hospital-electronic-health-record-adoption-2008-2024/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8872"/>
          </a:xfrm>
          <a:prstGeom prst="rect">
            <a:avLst/>
          </a:prstGeom>
          <a:solidFill>
            <a:srgbClr val="225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05840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225950"/>
                </a:solidFill>
                <a:latin typeface="Aptos"/>
              </a:rPr>
              <a:t>APPENDIX E / M6.4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1018520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82B2B"/>
                </a:solidFill>
                <a:latin typeface="Aptos Display"/>
              </a:rPr>
              <a:t>Target-account evidence and deployment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62456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5716E"/>
                </a:solidFill>
                <a:latin typeface="Aptos"/>
              </a:rPr>
              <a:t>Public company product pages support workflow relevance—not Claude purchasing intent or partnership status.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47104"/>
            <a:ext cx="11009376" cy="14630"/>
          </a:xfrm>
          <a:prstGeom prst="rect">
            <a:avLst/>
          </a:prstGeom>
          <a:solidFill>
            <a:srgbClr val="CFD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638544"/>
            <a:ext cx="6400800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65716E"/>
                </a:solidFill>
                <a:latin typeface="Aptos"/>
              </a:rPr>
              <a:t>CHARTGROUND  /  M6    •    INDEPENDENT STRATEGY HYPOTHESIS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6638544"/>
            <a:ext cx="1965960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810" b="0">
                <a:solidFill>
                  <a:srgbClr val="65716E"/>
                </a:solidFill>
                <a:latin typeface="Aptos"/>
              </a:rPr>
              <a:t>OCT 2026     /     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65376"/>
            <a:ext cx="5321808" cy="539496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1430">
            <a:solidFill>
              <a:srgbClr val="CF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24812"/>
            <a:ext cx="5010912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82B2B"/>
                </a:solidFill>
                <a:latin typeface="Aptos"/>
              </a:rPr>
              <a:t>[9] Navigating Care  •  oncology triage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85416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5" b="0">
                <a:solidFill>
                  <a:srgbClr val="225950"/>
                </a:solidFill>
                <a:latin typeface="Aptos"/>
                <a:hlinkClick r:id="rId2"/>
              </a:rPr>
              <a:t>navigatingcare.com  •  open source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496312"/>
            <a:ext cx="5321808" cy="539496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1430">
            <a:solidFill>
              <a:srgbClr val="CF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555748"/>
            <a:ext cx="5010912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82B2B"/>
                </a:solidFill>
                <a:latin typeface="Aptos"/>
              </a:rPr>
              <a:t>[10] Canopy  •  oncology monitoring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816352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5" b="0">
                <a:solidFill>
                  <a:srgbClr val="225950"/>
                </a:solidFill>
                <a:latin typeface="Aptos"/>
                <a:hlinkClick r:id="rId3"/>
              </a:rPr>
              <a:t>canopycare.us  •  open source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127248"/>
            <a:ext cx="5321808" cy="539496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1430">
            <a:solidFill>
              <a:srgbClr val="CF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186684"/>
            <a:ext cx="5010912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82B2B"/>
                </a:solidFill>
                <a:latin typeface="Aptos"/>
              </a:rPr>
              <a:t>[11] OncoHealth  •  utilization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447288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5" b="0">
                <a:solidFill>
                  <a:srgbClr val="225950"/>
                </a:solidFill>
                <a:latin typeface="Aptos"/>
                <a:hlinkClick r:id="rId4"/>
              </a:rPr>
              <a:t>oncohealth.us  •  open source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758184"/>
            <a:ext cx="5321808" cy="539496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1430">
            <a:solidFill>
              <a:srgbClr val="CF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817620"/>
            <a:ext cx="5010912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82B2B"/>
                </a:solidFill>
                <a:latin typeface="Aptos"/>
              </a:rPr>
              <a:t>[12] Candid Health  •  oncology RCM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078224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5" b="0">
                <a:solidFill>
                  <a:srgbClr val="225950"/>
                </a:solidFill>
                <a:latin typeface="Aptos"/>
                <a:hlinkClick r:id="rId5"/>
              </a:rPr>
              <a:t>candidhealth.com  •  open source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389120"/>
            <a:ext cx="5321808" cy="539496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1430">
            <a:solidFill>
              <a:srgbClr val="CF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448556"/>
            <a:ext cx="5010912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82B2B"/>
                </a:solidFill>
                <a:latin typeface="Aptos"/>
              </a:rPr>
              <a:t>[13] Tennr  •  referral automation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709159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5" b="0">
                <a:solidFill>
                  <a:srgbClr val="225950"/>
                </a:solidFill>
                <a:latin typeface="Aptos"/>
                <a:hlinkClick r:id="rId6"/>
              </a:rPr>
              <a:t>tennr.com  •  open source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5020055"/>
            <a:ext cx="5321808" cy="539496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1430">
            <a:solidFill>
              <a:srgbClr val="CF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5079492"/>
            <a:ext cx="5010912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82B2B"/>
                </a:solidFill>
                <a:latin typeface="Aptos"/>
              </a:rPr>
              <a:t>[14] Stedi  •  payer developer APIs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340095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5" b="0">
                <a:solidFill>
                  <a:srgbClr val="225950"/>
                </a:solidFill>
                <a:latin typeface="Aptos"/>
                <a:hlinkClick r:id="rId7"/>
              </a:rPr>
              <a:t>stedi.com/docs  •  open source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44768" y="1865376"/>
            <a:ext cx="5321808" cy="539496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1430">
            <a:solidFill>
              <a:srgbClr val="CF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0216" y="1924812"/>
            <a:ext cx="5010912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82B2B"/>
                </a:solidFill>
                <a:latin typeface="Aptos"/>
              </a:rPr>
              <a:t>[15] Flatiron  •  oncology EHR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216" y="2185416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5" b="0">
                <a:solidFill>
                  <a:srgbClr val="225950"/>
                </a:solidFill>
                <a:latin typeface="Aptos"/>
                <a:hlinkClick r:id="rId8"/>
              </a:rPr>
              <a:t>flatiron.com  •  open source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44768" y="2496312"/>
            <a:ext cx="5321808" cy="539496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1430">
            <a:solidFill>
              <a:srgbClr val="CF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0216" y="2555748"/>
            <a:ext cx="5010912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82B2B"/>
                </a:solidFill>
                <a:latin typeface="Aptos"/>
              </a:rPr>
              <a:t>[16] RaySearch  •  RayCare oncology 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216" y="2816352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5" b="0">
                <a:solidFill>
                  <a:srgbClr val="225950"/>
                </a:solidFill>
                <a:latin typeface="Aptos"/>
                <a:hlinkClick r:id="rId9"/>
              </a:rPr>
              <a:t>raysearchlabs.com  •  open source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44768" y="3127248"/>
            <a:ext cx="5321808" cy="539496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1430">
            <a:solidFill>
              <a:srgbClr val="CF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0216" y="3186684"/>
            <a:ext cx="5010912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82B2B"/>
                </a:solidFill>
                <a:latin typeface="Aptos"/>
              </a:rPr>
              <a:t>[17] Elekta  •  oncology informatics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0216" y="3447288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5" b="0">
                <a:solidFill>
                  <a:srgbClr val="225950"/>
                </a:solidFill>
                <a:latin typeface="Aptos"/>
                <a:hlinkClick r:id="rId10"/>
              </a:rPr>
              <a:t>elekta.com  •  open source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44768" y="3758184"/>
            <a:ext cx="5321808" cy="539496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1430">
            <a:solidFill>
              <a:srgbClr val="CF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0216" y="3817620"/>
            <a:ext cx="5010912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82B2B"/>
                </a:solidFill>
                <a:latin typeface="Aptos"/>
              </a:rPr>
              <a:t>[18] Siemens / Varian  •  ARIA CORE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216" y="4078224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5" b="0">
                <a:solidFill>
                  <a:srgbClr val="225950"/>
                </a:solidFill>
                <a:latin typeface="Aptos"/>
                <a:hlinkClick r:id="rId11"/>
              </a:rPr>
              <a:t>siemens-healthineers.com  •  open source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44768" y="4389120"/>
            <a:ext cx="5321808" cy="539496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1430">
            <a:solidFill>
              <a:srgbClr val="CF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0216" y="4448556"/>
            <a:ext cx="5010912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82B2B"/>
                </a:solidFill>
                <a:latin typeface="Aptos"/>
              </a:rPr>
              <a:t>[19] Anthropic  •  BAA and eligible features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0216" y="4709159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5" b="0">
                <a:solidFill>
                  <a:srgbClr val="225950"/>
                </a:solidFill>
                <a:latin typeface="Aptos"/>
                <a:hlinkClick r:id="rId12"/>
              </a:rPr>
              <a:t>support.claude.com  •  open source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44768" y="5020055"/>
            <a:ext cx="5321808" cy="539496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1430">
            <a:solidFill>
              <a:srgbClr val="CF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0216" y="5079492"/>
            <a:ext cx="5010912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82B2B"/>
                </a:solidFill>
                <a:latin typeface="Aptos"/>
              </a:rPr>
              <a:t>[20] FDA  •  clinical decision support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0216" y="5340095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5" b="0">
                <a:solidFill>
                  <a:srgbClr val="225950"/>
                </a:solidFill>
                <a:latin typeface="Aptos"/>
                <a:hlinkClick r:id="rId13"/>
              </a:rPr>
              <a:t>fda.gov  •  open source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4360" y="5843016"/>
            <a:ext cx="11000232" cy="420624"/>
          </a:xfrm>
          <a:prstGeom prst="roundRect">
            <a:avLst>
              <a:gd name="adj" fmla="val 7500"/>
            </a:avLst>
          </a:prstGeom>
          <a:solidFill>
            <a:srgbClr val="EF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9808" y="5961888"/>
            <a:ext cx="10661904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85" b="0">
                <a:solidFill>
                  <a:srgbClr val="65716E"/>
                </a:solidFill>
                <a:latin typeface="Aptos"/>
              </a:rPr>
              <a:t>Full URLs, evidence qualifiers and all 20 researched accounts: M6.4 companion Excel workbook. Sources reviewed for the independent Oct 2026 case study.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8872"/>
          </a:xfrm>
          <a:prstGeom prst="rect">
            <a:avLst/>
          </a:prstGeom>
          <a:solidFill>
            <a:srgbClr val="225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225950"/>
                </a:solidFill>
                <a:latin typeface="Aptos"/>
              </a:rPr>
              <a:t>APPENDIX F / M6.5–M6.6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972800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2B2B"/>
                </a:solidFill>
                <a:latin typeface="Aptos Display"/>
              </a:rPr>
              <a:t>Competitive, channel and financial source trail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62456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65716E"/>
                </a:solidFill>
                <a:latin typeface="Aptos"/>
              </a:rPr>
              <a:t>M6.5 researched product and cloud pathways; M6.6 scenarios only stress existing M6.2 model assumptions.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47104"/>
            <a:ext cx="11009376" cy="14630"/>
          </a:xfrm>
          <a:prstGeom prst="rect">
            <a:avLst/>
          </a:prstGeom>
          <a:solidFill>
            <a:srgbClr val="CFD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638544"/>
            <a:ext cx="7589520" cy="155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65716E"/>
                </a:solidFill>
                <a:latin typeface="Aptos"/>
              </a:rPr>
              <a:t>CHARTGROUND  /  M6  •  INDEPENDENT EXECUTIVE INVESTMENT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6064" y="6638544"/>
            <a:ext cx="1920240" cy="155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810" b="0">
                <a:solidFill>
                  <a:srgbClr val="65716E"/>
                </a:solidFill>
                <a:latin typeface="Aptos"/>
              </a:rPr>
              <a:t>OCT 2026     /    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1865376"/>
            <a:ext cx="10899648" cy="429768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795">
            <a:solidFill>
              <a:srgbClr val="CF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1984248"/>
            <a:ext cx="3959352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82B2B"/>
                </a:solidFill>
                <a:latin typeface="Aptos"/>
              </a:rPr>
              <a:t>[21] Claude native document citations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8304" y="1984248"/>
            <a:ext cx="6638544" cy="1920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35" b="0">
                <a:solidFill>
                  <a:srgbClr val="225950"/>
                </a:solidFill>
                <a:latin typeface="Aptos"/>
                <a:hlinkClick r:id="rId2"/>
              </a:rPr>
              <a:t>https://platform.claude.com/docs/en/build-with-claude/citations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" y="2359152"/>
            <a:ext cx="10899648" cy="429768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795">
            <a:solidFill>
              <a:srgbClr val="CF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2478024"/>
            <a:ext cx="3959352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82B2B"/>
                </a:solidFill>
                <a:latin typeface="Aptos"/>
              </a:rPr>
              <a:t>[22] AWS Bedrock vs Claude Platform on AWS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8304" y="2478024"/>
            <a:ext cx="6638544" cy="1920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35" b="0">
                <a:solidFill>
                  <a:srgbClr val="225950"/>
                </a:solidFill>
                <a:latin typeface="Aptos"/>
                <a:hlinkClick r:id="rId3"/>
              </a:rPr>
              <a:t>https://docs.aws.amazon.com/claude-platform/latest/userguide/cpa-vs-bedrock.html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" y="2852928"/>
            <a:ext cx="10899648" cy="429768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795">
            <a:solidFill>
              <a:srgbClr val="CF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" y="2971800"/>
            <a:ext cx="3959352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82B2B"/>
                </a:solidFill>
                <a:latin typeface="Aptos"/>
              </a:rPr>
              <a:t>[23] Claude first-party BAA requirements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18304" y="2971800"/>
            <a:ext cx="6638544" cy="1920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35" b="0">
                <a:solidFill>
                  <a:srgbClr val="225950"/>
                </a:solidFill>
                <a:latin typeface="Aptos"/>
                <a:hlinkClick r:id="rId4"/>
              </a:rPr>
              <a:t>https://support.claude.com/en/articles/8114513-business-associate-agreements-baa-for-commercial-customers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" y="3346704"/>
            <a:ext cx="10899648" cy="429768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795">
            <a:solidFill>
              <a:srgbClr val="CF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465576"/>
            <a:ext cx="3959352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82B2B"/>
                </a:solidFill>
                <a:latin typeface="Aptos"/>
              </a:rPr>
              <a:t>[24] Anthropic and TCS partnership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8304" y="3465576"/>
            <a:ext cx="6638544" cy="1920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35" b="0">
                <a:solidFill>
                  <a:srgbClr val="225950"/>
                </a:solidFill>
                <a:latin typeface="Aptos"/>
                <a:hlinkClick r:id="rId5"/>
              </a:rPr>
              <a:t>https://www.anthropic.com/news/tcs-anthropic-partnership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" y="3840480"/>
            <a:ext cx="10899648" cy="429768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795">
            <a:solidFill>
              <a:srgbClr val="CF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" y="3959352"/>
            <a:ext cx="3959352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82B2B"/>
                </a:solidFill>
                <a:latin typeface="Aptos"/>
              </a:rPr>
              <a:t>[25] Clinical AI benchmark (older models)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18304" y="3959352"/>
            <a:ext cx="6638544" cy="1920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35" b="0">
                <a:solidFill>
                  <a:srgbClr val="225950"/>
                </a:solidFill>
                <a:latin typeface="Aptos"/>
                <a:hlinkClick r:id="rId6"/>
              </a:rPr>
              <a:t>https://www.nature.com/articles/s41591-026-04431-5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" y="4334256"/>
            <a:ext cx="10899648" cy="429768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795">
            <a:solidFill>
              <a:srgbClr val="CF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" y="4453128"/>
            <a:ext cx="3959352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82B2B"/>
                </a:solidFill>
                <a:latin typeface="Aptos"/>
              </a:rPr>
              <a:t>[26] Microsoft Claude data privacy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18304" y="4453128"/>
            <a:ext cx="6638544" cy="1920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35" b="0">
                <a:solidFill>
                  <a:srgbClr val="225950"/>
                </a:solidFill>
                <a:latin typeface="Aptos"/>
                <a:hlinkClick r:id="rId7"/>
              </a:rPr>
              <a:t>https://learn.microsoft.com/en-us/azure/ai-foundry/responsible-ai/claude-models/data-privacy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" y="4828032"/>
            <a:ext cx="10899648" cy="429768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795">
            <a:solidFill>
              <a:srgbClr val="CFD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" y="4946904"/>
            <a:ext cx="3959352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82B2B"/>
                </a:solidFill>
                <a:latin typeface="Aptos"/>
              </a:rPr>
              <a:t>[27] Google Cloud Claude availability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18304" y="4946904"/>
            <a:ext cx="6638544" cy="1920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35" b="0">
                <a:solidFill>
                  <a:srgbClr val="225950"/>
                </a:solidFill>
                <a:latin typeface="Aptos"/>
                <a:hlinkClick r:id="rId8"/>
              </a:rPr>
              <a:t>https://cloud.google.com/blog/products/ai-machine-learning/expanding-claude-availability-on-google-cloud/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6656" y="5751576"/>
            <a:ext cx="10890504" cy="548640"/>
          </a:xfrm>
          <a:prstGeom prst="roundRect">
            <a:avLst>
              <a:gd name="adj" fmla="val 7500"/>
            </a:avLst>
          </a:prstGeom>
          <a:solidFill>
            <a:srgbClr val="EF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879592"/>
            <a:ext cx="10497312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182B2B"/>
                </a:solidFill>
                <a:latin typeface="Aptos"/>
              </a:rPr>
              <a:t>Financial sources: M6.2 source/rate workbook and M6.6 risk-adjusted companion workbook. All customer counts, scenario weights, channel economics and capacity costs are illustrative—not Anthropic data.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0D2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8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457200"/>
            <a:ext cx="9784080" cy="228600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7DBBAD"/>
                </a:solidFill>
                <a:latin typeface="Aptos"/>
              </a:defRPr>
            </a:pPr>
            <a:r>
              <a:t>CHARTGROUND M6  /  EXECUTIVE DECISION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932688"/>
            <a:ext cx="10698480" cy="228600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9AE5F"/>
                </a:solidFill>
                <a:latin typeface="Aptos"/>
              </a:defRPr>
            </a:pPr>
            <a:r>
              <a:t>INVESTMENT 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216152"/>
            <a:ext cx="10881360" cy="859536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3000" b="1">
                <a:solidFill>
                  <a:srgbClr val="F7FAF8"/>
                </a:solidFill>
                <a:latin typeface="Aptos"/>
              </a:defRPr>
            </a:pPr>
            <a:r>
              <a:t>Validate the oncology ISV wedge—do not launch broadly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75688"/>
            <a:ext cx="10652760" cy="25603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350" b="0">
                <a:solidFill>
                  <a:srgbClr val="B9CAC7"/>
                </a:solidFill>
                <a:latin typeface="Aptos"/>
              </a:defRPr>
            </a:pPr>
            <a:r>
              <a:t>Win healthcare software developers through source-backed specialty workflows, then monetize repeat API usage.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67512" y="6519672"/>
            <a:ext cx="10945368" cy="0"/>
          </a:xfrm>
          <a:prstGeom prst="line">
            <a:avLst/>
          </a:prstGeom>
          <a:ln w="8890">
            <a:solidFill>
              <a:srgbClr val="365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67512" y="6556248"/>
            <a:ext cx="9601200" cy="16459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850" b="0">
                <a:solidFill>
                  <a:srgbClr val="B9CAC7"/>
                </a:solidFill>
                <a:latin typeface="Aptos"/>
              </a:defRPr>
            </a:pPr>
            <a:r>
              <a:t>INDEPENDENT CASE STUDY  •  Oct 2026  •  Simulated economics / unverified external demand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556248"/>
            <a:ext cx="365760" cy="155448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 algn="r">
              <a:spcAft>
                <a:spcPts val="200"/>
              </a:spcAft>
              <a:defRPr sz="900" b="1">
                <a:solidFill>
                  <a:srgbClr val="7DBBAD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761488"/>
            <a:ext cx="5230368" cy="1033271"/>
          </a:xfrm>
          <a:prstGeom prst="roundRect">
            <a:avLst>
              <a:gd name="adj" fmla="val 13000"/>
            </a:avLst>
          </a:prstGeom>
          <a:solidFill>
            <a:srgbClr val="1C403C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871216"/>
            <a:ext cx="4901183" cy="173736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960" b="1">
                <a:solidFill>
                  <a:srgbClr val="E9AE5F"/>
                </a:solidFill>
                <a:latin typeface="Aptos"/>
              </a:defRPr>
            </a:pPr>
            <a:r>
              <a:t>MARKET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099816"/>
            <a:ext cx="4882896" cy="365760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750" b="1">
                <a:solidFill>
                  <a:srgbClr val="F7FAF8"/>
                </a:solidFill>
                <a:latin typeface="Aptos"/>
              </a:defRPr>
            </a:pPr>
            <a:r>
              <a:t>Where to play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493008"/>
            <a:ext cx="4882896" cy="210311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070" b="0">
                <a:solidFill>
                  <a:srgbClr val="B9CAC7"/>
                </a:solidFill>
                <a:latin typeface="Aptos"/>
              </a:defRPr>
            </a:pPr>
            <a:r>
              <a:t>Clinical workflow ISVs; oncology is the first use case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9048" y="2761488"/>
            <a:ext cx="5404104" cy="1033271"/>
          </a:xfrm>
          <a:prstGeom prst="roundRect">
            <a:avLst>
              <a:gd name="adj" fmla="val 13000"/>
            </a:avLst>
          </a:prstGeom>
          <a:solidFill>
            <a:srgbClr val="1C403C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871216"/>
            <a:ext cx="5074920" cy="173736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960" b="1">
                <a:solidFill>
                  <a:srgbClr val="E9AE5F"/>
                </a:solidFill>
                <a:latin typeface="Aptos"/>
              </a:defRPr>
            </a:pPr>
            <a:r>
              <a:t>PRODUCT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099816"/>
            <a:ext cx="5056632" cy="365760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750" b="1">
                <a:solidFill>
                  <a:srgbClr val="F7FAF8"/>
                </a:solidFill>
                <a:latin typeface="Aptos"/>
              </a:defRPr>
            </a:pPr>
            <a:r>
              <a:t>What to 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493008"/>
            <a:ext cx="5056632" cy="210311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070" b="0">
                <a:solidFill>
                  <a:srgbClr val="B9CAC7"/>
                </a:solidFill>
                <a:latin typeface="Aptos"/>
              </a:defRPr>
            </a:pPr>
            <a:r>
              <a:t>Developer quickstart + evaluation + spend transparency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" y="3959352"/>
            <a:ext cx="5230368" cy="1033271"/>
          </a:xfrm>
          <a:prstGeom prst="roundRect">
            <a:avLst>
              <a:gd name="adj" fmla="val 13000"/>
            </a:avLst>
          </a:prstGeom>
          <a:solidFill>
            <a:srgbClr val="1C403C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4069080"/>
            <a:ext cx="4901183" cy="173736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960" b="1">
                <a:solidFill>
                  <a:srgbClr val="E9AE5F"/>
                </a:solidFill>
                <a:latin typeface="Aptos"/>
              </a:defRPr>
            </a:pPr>
            <a:r>
              <a:t>ECONOMICS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4297680"/>
            <a:ext cx="4882896" cy="365760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750" b="1">
                <a:solidFill>
                  <a:srgbClr val="F7FAF8"/>
                </a:solidFill>
                <a:latin typeface="Aptos"/>
              </a:defRPr>
            </a:pPr>
            <a:r>
              <a:t>How to monetize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4690872"/>
            <a:ext cx="4882896" cy="21031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070" b="0">
                <a:solidFill>
                  <a:srgbClr val="B9CAC7"/>
                </a:solidFill>
                <a:latin typeface="Aptos"/>
              </a:defRPr>
            </a:pPr>
            <a:r>
              <a:t>Usage-based API billings → sustained use → commitments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9048" y="3959352"/>
            <a:ext cx="5404104" cy="1033271"/>
          </a:xfrm>
          <a:prstGeom prst="roundRect">
            <a:avLst>
              <a:gd name="adj" fmla="val 13000"/>
            </a:avLst>
          </a:prstGeom>
          <a:solidFill>
            <a:srgbClr val="1C403C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4069080"/>
            <a:ext cx="5074920" cy="173736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960" b="1">
                <a:solidFill>
                  <a:srgbClr val="E9AE5F"/>
                </a:solidFill>
                <a:latin typeface="Aptos"/>
              </a:defRPr>
            </a:pPr>
            <a:r>
              <a:t>CHANNEL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297680"/>
            <a:ext cx="5056632" cy="365760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750" b="1">
                <a:solidFill>
                  <a:srgbClr val="F7FAF8"/>
                </a:solidFill>
                <a:latin typeface="Aptos"/>
              </a:defRPr>
            </a:pPr>
            <a:r>
              <a:t>How to distribute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690872"/>
            <a:ext cx="5056632" cy="21031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070" b="0">
                <a:solidFill>
                  <a:srgbClr val="B9CAC7"/>
                </a:solidFill>
                <a:latin typeface="Aptos"/>
              </a:defRPr>
            </a:pPr>
            <a:r>
              <a:t>Direct API first; cloud and healthcare partners as needed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6656" y="5248656"/>
            <a:ext cx="10826496" cy="832104"/>
          </a:xfrm>
          <a:prstGeom prst="roundRect">
            <a:avLst>
              <a:gd name="adj" fmla="val 13000"/>
            </a:avLst>
          </a:prstGeom>
          <a:solidFill>
            <a:srgbClr val="153936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468112"/>
            <a:ext cx="1920240" cy="201168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9AE5F"/>
                </a:solidFill>
                <a:latin typeface="Aptos"/>
              </a:defRPr>
            </a:pPr>
            <a:r>
              <a:t>DECISION REQUESTED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16352" y="5431536"/>
            <a:ext cx="8375904" cy="411480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F7FAF8"/>
                </a:solidFill>
                <a:latin typeface="Aptos"/>
              </a:defRPr>
            </a:pPr>
            <a:r>
              <a:t>Approve bounded research, evaluation, and design-partner validation—no scale commitment yet.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0D2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8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457200"/>
            <a:ext cx="9784080" cy="228600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7DBBAD"/>
                </a:solidFill>
                <a:latin typeface="Aptos"/>
              </a:defRPr>
            </a:pPr>
            <a:r>
              <a:t>CHARTGROUND M6  /  EXECUTIVE DECISION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932688"/>
            <a:ext cx="10698480" cy="228600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9AE5F"/>
                </a:solidFill>
                <a:latin typeface="Aptos"/>
              </a:defRPr>
            </a:pPr>
            <a:r>
              <a:t>WHERE TO COMPETE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216152"/>
            <a:ext cx="10881360" cy="859536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3000" b="1">
                <a:solidFill>
                  <a:srgbClr val="F7FAF8"/>
                </a:solidFill>
                <a:latin typeface="Aptos"/>
              </a:defRPr>
            </a:pPr>
            <a:r>
              <a:t>Clinical workflow ISVs are the first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75688"/>
            <a:ext cx="10652760" cy="25603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350" b="0">
                <a:solidFill>
                  <a:srgbClr val="B9CAC7"/>
                </a:solidFill>
                <a:latin typeface="Aptos"/>
              </a:defRPr>
            </a:pPr>
            <a:r>
              <a:t>Weighted analyst scores from M6.1; these are research judgments, not observed demand.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67512" y="6519672"/>
            <a:ext cx="10945368" cy="0"/>
          </a:xfrm>
          <a:prstGeom prst="line">
            <a:avLst/>
          </a:prstGeom>
          <a:ln w="8890">
            <a:solidFill>
              <a:srgbClr val="365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67512" y="6556248"/>
            <a:ext cx="9601200" cy="16459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850" b="0">
                <a:solidFill>
                  <a:srgbClr val="B9CAC7"/>
                </a:solidFill>
                <a:latin typeface="Aptos"/>
              </a:defRPr>
            </a:pPr>
            <a:r>
              <a:t>INDEPENDENT CASE STUDY  •  Oct 2026  •  Simulated economics / unverified external demand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556248"/>
            <a:ext cx="365760" cy="155448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 algn="r">
              <a:spcAft>
                <a:spcPts val="200"/>
              </a:spcAft>
              <a:defRPr sz="900" b="1">
                <a:solidFill>
                  <a:srgbClr val="7DBBA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679192"/>
            <a:ext cx="3154680" cy="30175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7FAF8"/>
                </a:solidFill>
                <a:latin typeface="Aptos"/>
              </a:defRPr>
            </a:pPr>
            <a:r>
              <a:t>Clinical workflow ISVs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59352" y="2720340"/>
            <a:ext cx="5074920" cy="173736"/>
          </a:xfrm>
          <a:prstGeom prst="rect">
            <a:avLst/>
          </a:prstGeom>
          <a:solidFill>
            <a:srgbClr val="153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59352" y="2720340"/>
            <a:ext cx="3958437" cy="173736"/>
          </a:xfrm>
          <a:prstGeom prst="rect">
            <a:avLst/>
          </a:prstGeom>
          <a:solidFill>
            <a:srgbClr val="7DB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62288" y="2665476"/>
            <a:ext cx="704088" cy="329184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7FAF8"/>
                </a:solidFill>
                <a:latin typeface="Aptos"/>
              </a:defRPr>
            </a:pPr>
            <a:r>
              <a:t>3.90/5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30384" y="2706624"/>
            <a:ext cx="1499616" cy="25603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960" b="1">
                <a:solidFill>
                  <a:srgbClr val="E9AE5F"/>
                </a:solidFill>
                <a:latin typeface="Aptos"/>
              </a:defRPr>
            </a:pPr>
            <a:r>
              <a:t>START 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3227832"/>
            <a:ext cx="3154680" cy="30175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F7FAF8"/>
                </a:solidFill>
                <a:latin typeface="Aptos"/>
              </a:defRPr>
            </a:pPr>
            <a:r>
              <a:t>Payer platforms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59352" y="3268980"/>
            <a:ext cx="5074920" cy="173736"/>
          </a:xfrm>
          <a:prstGeom prst="rect">
            <a:avLst/>
          </a:prstGeom>
          <a:solidFill>
            <a:srgbClr val="153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59352" y="3268980"/>
            <a:ext cx="3704691" cy="173736"/>
          </a:xfrm>
          <a:prstGeom prst="rect">
            <a:avLst/>
          </a:prstGeom>
          <a:solidFill>
            <a:srgbClr val="E9A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62288" y="3214116"/>
            <a:ext cx="704088" cy="329184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7FAF8"/>
                </a:solidFill>
                <a:latin typeface="Aptos"/>
              </a:defRPr>
            </a:pPr>
            <a:r>
              <a:t>3.65/5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30384" y="3255264"/>
            <a:ext cx="1499616" cy="25603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960" b="1">
                <a:solidFill>
                  <a:srgbClr val="E9AE5F"/>
                </a:solidFill>
                <a:latin typeface="Aptos"/>
              </a:defRPr>
            </a:pPr>
            <a:r>
              <a:t>NEXT OPTION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3776472"/>
            <a:ext cx="3154680" cy="30175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F7FAF8"/>
                </a:solidFill>
                <a:latin typeface="Aptos"/>
              </a:defRPr>
            </a:pPr>
            <a:r>
              <a:t>Oncology software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59352" y="3817620"/>
            <a:ext cx="5074920" cy="173736"/>
          </a:xfrm>
          <a:prstGeom prst="rect">
            <a:avLst/>
          </a:prstGeom>
          <a:solidFill>
            <a:srgbClr val="153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959352" y="3817620"/>
            <a:ext cx="3450945" cy="173736"/>
          </a:xfrm>
          <a:prstGeom prst="rect">
            <a:avLst/>
          </a:prstGeom>
          <a:solidFill>
            <a:srgbClr val="C9E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62288" y="3762756"/>
            <a:ext cx="704088" cy="329184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7FAF8"/>
                </a:solidFill>
                <a:latin typeface="Aptos"/>
              </a:defRPr>
            </a:pPr>
            <a:r>
              <a:t>3.40/5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30384" y="3803904"/>
            <a:ext cx="1499616" cy="25603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960" b="1">
                <a:solidFill>
                  <a:srgbClr val="B9CAC7"/>
                </a:solidFill>
                <a:latin typeface="Aptos"/>
              </a:defRPr>
            </a:pPr>
            <a:r>
              <a:t>USE CASE INSIDE ISVs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4325112"/>
            <a:ext cx="3154680" cy="30175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F7FAF8"/>
                </a:solidFill>
                <a:latin typeface="Aptos"/>
              </a:defRPr>
            </a:pPr>
            <a:r>
              <a:t>EHR vendors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59352" y="4366260"/>
            <a:ext cx="5074920" cy="173736"/>
          </a:xfrm>
          <a:prstGeom prst="rect">
            <a:avLst/>
          </a:prstGeom>
          <a:solidFill>
            <a:srgbClr val="153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959352" y="4366260"/>
            <a:ext cx="3349447" cy="173736"/>
          </a:xfrm>
          <a:prstGeom prst="rect">
            <a:avLst/>
          </a:prstGeom>
          <a:solidFill>
            <a:srgbClr val="B9C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62288" y="4311396"/>
            <a:ext cx="704088" cy="329184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7FAF8"/>
                </a:solidFill>
                <a:latin typeface="Aptos"/>
              </a:defRPr>
            </a:pPr>
            <a:r>
              <a:t>3.30/5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30384" y="4352544"/>
            <a:ext cx="1499616" cy="25603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960" b="1">
                <a:solidFill>
                  <a:srgbClr val="B9CAC7"/>
                </a:solidFill>
                <a:latin typeface="Aptos"/>
              </a:defRPr>
            </a:pPr>
            <a:r>
              <a:t>LATER CHANNEL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" y="4873752"/>
            <a:ext cx="3154680" cy="30175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F7FAF8"/>
                </a:solidFill>
                <a:latin typeface="Aptos"/>
              </a:defRPr>
            </a:pPr>
            <a:r>
              <a:t>Healthcare AI developers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59352" y="4914900"/>
            <a:ext cx="5074920" cy="173736"/>
          </a:xfrm>
          <a:prstGeom prst="rect">
            <a:avLst/>
          </a:prstGeom>
          <a:solidFill>
            <a:srgbClr val="153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959352" y="4914900"/>
            <a:ext cx="3044951" cy="173736"/>
          </a:xfrm>
          <a:prstGeom prst="rect">
            <a:avLst/>
          </a:prstGeom>
          <a:solidFill>
            <a:srgbClr val="B9C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62288" y="4860036"/>
            <a:ext cx="704088" cy="329184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7FAF8"/>
                </a:solidFill>
                <a:latin typeface="Aptos"/>
              </a:defRPr>
            </a:pPr>
            <a:r>
              <a:t>3.00/5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0384" y="4901184"/>
            <a:ext cx="1499616" cy="25603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960" b="1">
                <a:solidFill>
                  <a:srgbClr val="B9CAC7"/>
                </a:solidFill>
                <a:latin typeface="Aptos"/>
              </a:defRPr>
            </a:pPr>
            <a:r>
              <a:t>ACQUISITION FUNNEL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6384" y="5660136"/>
            <a:ext cx="10579608" cy="493776"/>
          </a:xfrm>
          <a:prstGeom prst="roundRect">
            <a:avLst>
              <a:gd name="adj" fmla="val 13000"/>
            </a:avLst>
          </a:prstGeom>
          <a:solidFill>
            <a:srgbClr val="1C403C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976" y="5779008"/>
            <a:ext cx="10149840" cy="237744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280" b="1">
                <a:solidFill>
                  <a:srgbClr val="F7FAF8"/>
                </a:solidFill>
                <a:latin typeface="Aptos"/>
              </a:defRPr>
            </a:pPr>
            <a:r>
              <a:t>Key distinction: oncology is the initial specialty workflow within clinical-workflow ISVs—not a sixth competing market.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0D2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8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457200"/>
            <a:ext cx="9784080" cy="228600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7DBBAD"/>
                </a:solidFill>
                <a:latin typeface="Aptos"/>
              </a:defRPr>
            </a:pPr>
            <a:r>
              <a:t>CHARTGROUND M6  /  EXECUTIVE DECISION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932688"/>
            <a:ext cx="10698480" cy="228600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9AE5F"/>
                </a:solidFill>
                <a:latin typeface="Aptos"/>
              </a:defRPr>
            </a:pPr>
            <a:r>
              <a:t>CUSTOMER WEDGE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216152"/>
            <a:ext cx="10881360" cy="859536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3000" b="1">
                <a:solidFill>
                  <a:srgbClr val="F7FAF8"/>
                </a:solidFill>
                <a:latin typeface="Aptos"/>
              </a:defRPr>
            </a:pPr>
            <a:r>
              <a:t>Start with recurring, evidence-grounded oncology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13432"/>
            <a:ext cx="10652760" cy="25603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350" b="0">
                <a:solidFill>
                  <a:srgbClr val="B9CAC7"/>
                </a:solidFill>
                <a:latin typeface="Aptos"/>
              </a:defRPr>
            </a:pPr>
            <a:r>
              <a:t>Avoid generic ambient notes; evaluate buyer problems where longitudinal evidence and traceability matter.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67512" y="6519672"/>
            <a:ext cx="10945368" cy="0"/>
          </a:xfrm>
          <a:prstGeom prst="line">
            <a:avLst/>
          </a:prstGeom>
          <a:ln w="8890">
            <a:solidFill>
              <a:srgbClr val="365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67512" y="6556248"/>
            <a:ext cx="9601200" cy="16459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850" b="0">
                <a:solidFill>
                  <a:srgbClr val="B9CAC7"/>
                </a:solidFill>
                <a:latin typeface="Aptos"/>
              </a:defRPr>
            </a:pPr>
            <a:r>
              <a:t>INDEPENDENT CASE STUDY  •  Oct 2026  •  Simulated economics / unverified external demand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556248"/>
            <a:ext cx="365760" cy="155448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 algn="r">
              <a:spcAft>
                <a:spcPts val="200"/>
              </a:spcAft>
              <a:defRPr sz="900" b="1">
                <a:solidFill>
                  <a:srgbClr val="7DBBA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" y="2660904"/>
            <a:ext cx="5285232" cy="1472184"/>
          </a:xfrm>
          <a:prstGeom prst="roundRect">
            <a:avLst>
              <a:gd name="adj" fmla="val 13000"/>
            </a:avLst>
          </a:prstGeom>
          <a:solidFill>
            <a:srgbClr val="1C403C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770632"/>
            <a:ext cx="4956048" cy="173736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960" b="1">
                <a:solidFill>
                  <a:srgbClr val="E9AE5F"/>
                </a:solidFill>
                <a:latin typeface="Aptos"/>
              </a:defRPr>
            </a:pPr>
            <a:r>
              <a:t>FIRST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999232"/>
            <a:ext cx="4937760" cy="365760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900" b="1">
                <a:solidFill>
                  <a:srgbClr val="F7FAF8"/>
                </a:solidFill>
                <a:latin typeface="Aptos"/>
              </a:defRPr>
            </a:pPr>
            <a:r>
              <a:t>Source-backed oncology synthesis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392424"/>
            <a:ext cx="4937760" cy="649224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170" b="0">
                <a:solidFill>
                  <a:srgbClr val="B9CAC7"/>
                </a:solidFill>
                <a:latin typeface="Aptos"/>
              </a:defRPr>
            </a:pPr>
            <a:r>
              <a:t>Longitudinal chart context, contradictions, citations, clinician review and handoffs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660904"/>
            <a:ext cx="5285232" cy="1472184"/>
          </a:xfrm>
          <a:prstGeom prst="roundRect">
            <a:avLst>
              <a:gd name="adj" fmla="val 13000"/>
            </a:avLst>
          </a:prstGeom>
          <a:solidFill>
            <a:srgbClr val="1C403C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2770632"/>
            <a:ext cx="4956048" cy="173736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960" b="1">
                <a:solidFill>
                  <a:srgbClr val="E9AE5F"/>
                </a:solidFill>
                <a:latin typeface="Aptos"/>
              </a:defRPr>
            </a:pPr>
            <a:r>
              <a:t>RESEARCH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2999232"/>
            <a:ext cx="4937760" cy="365760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850" b="1">
                <a:solidFill>
                  <a:srgbClr val="F7FAF8"/>
                </a:solidFill>
                <a:latin typeface="Aptos"/>
              </a:defRPr>
            </a:pPr>
            <a:r>
              <a:t>Six discovery candidates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3392424"/>
            <a:ext cx="4937760" cy="649224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170" b="0">
                <a:solidFill>
                  <a:srgbClr val="B9CAC7"/>
                </a:solidFill>
                <a:latin typeface="Aptos"/>
              </a:defRPr>
            </a:pPr>
            <a:r>
              <a:t>Publicly researched targets, not signed design partners or known Claude customers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407408"/>
            <a:ext cx="3493008" cy="502920"/>
          </a:xfrm>
          <a:prstGeom prst="roundRect">
            <a:avLst>
              <a:gd name="adj" fmla="val 13000"/>
            </a:avLst>
          </a:prstGeom>
          <a:solidFill>
            <a:srgbClr val="153936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498848"/>
            <a:ext cx="2020824" cy="274320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7FAF8"/>
                </a:solidFill>
                <a:latin typeface="Aptos"/>
              </a:defRPr>
            </a:pPr>
            <a:r>
              <a:t>Navigating Care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4526280"/>
            <a:ext cx="1188720" cy="219456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 algn="r">
              <a:spcAft>
                <a:spcPts val="200"/>
              </a:spcAft>
              <a:defRPr sz="1050" b="0">
                <a:solidFill>
                  <a:srgbClr val="E9AE5F"/>
                </a:solidFill>
                <a:latin typeface="Aptos"/>
              </a:defRPr>
            </a:pPr>
            <a:r>
              <a:t>Triage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71416" y="4407408"/>
            <a:ext cx="3493008" cy="502920"/>
          </a:xfrm>
          <a:prstGeom prst="roundRect">
            <a:avLst>
              <a:gd name="adj" fmla="val 13000"/>
            </a:avLst>
          </a:prstGeom>
          <a:solidFill>
            <a:srgbClr val="153936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0288" y="4498848"/>
            <a:ext cx="2020824" cy="274320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7FAF8"/>
                </a:solidFill>
                <a:latin typeface="Aptos"/>
              </a:defRPr>
            </a:pPr>
            <a:r>
              <a:t>Canopy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5975" y="4526280"/>
            <a:ext cx="1188720" cy="219456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 algn="r">
              <a:spcAft>
                <a:spcPts val="200"/>
              </a:spcAft>
              <a:defRPr sz="1050" b="0">
                <a:solidFill>
                  <a:srgbClr val="E9AE5F"/>
                </a:solidFill>
                <a:latin typeface="Aptos"/>
              </a:defRPr>
            </a:pPr>
            <a:r>
              <a:t>Monitoring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65592" y="4407408"/>
            <a:ext cx="3493008" cy="502920"/>
          </a:xfrm>
          <a:prstGeom prst="roundRect">
            <a:avLst>
              <a:gd name="adj" fmla="val 13000"/>
            </a:avLst>
          </a:prstGeom>
          <a:solidFill>
            <a:srgbClr val="153936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4464" y="4498848"/>
            <a:ext cx="2020824" cy="274320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7FAF8"/>
                </a:solidFill>
                <a:latin typeface="Aptos"/>
              </a:defRPr>
            </a:pPr>
            <a:r>
              <a:t>OncoHealth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60152" y="4526280"/>
            <a:ext cx="1188720" cy="219456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 algn="r">
              <a:spcAft>
                <a:spcPts val="200"/>
              </a:spcAft>
              <a:defRPr sz="1050" b="0">
                <a:solidFill>
                  <a:srgbClr val="E9AE5F"/>
                </a:solidFill>
                <a:latin typeface="Aptos"/>
              </a:defRPr>
            </a:pPr>
            <a:r>
              <a:t>UM review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047488"/>
            <a:ext cx="3493008" cy="502920"/>
          </a:xfrm>
          <a:prstGeom prst="roundRect">
            <a:avLst>
              <a:gd name="adj" fmla="val 13000"/>
            </a:avLst>
          </a:prstGeom>
          <a:solidFill>
            <a:srgbClr val="153936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5138928"/>
            <a:ext cx="2020824" cy="274320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7FAF8"/>
                </a:solidFill>
                <a:latin typeface="Aptos"/>
              </a:defRPr>
            </a:pPr>
            <a:r>
              <a:t>Candid Health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71800" y="5166360"/>
            <a:ext cx="1188720" cy="219456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 algn="r">
              <a:spcAft>
                <a:spcPts val="200"/>
              </a:spcAft>
              <a:defRPr sz="1050" b="0">
                <a:solidFill>
                  <a:srgbClr val="E9AE5F"/>
                </a:solidFill>
                <a:latin typeface="Aptos"/>
              </a:defRPr>
            </a:pPr>
            <a:r>
              <a:t>Denials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71416" y="5047488"/>
            <a:ext cx="3493008" cy="502920"/>
          </a:xfrm>
          <a:prstGeom prst="roundRect">
            <a:avLst>
              <a:gd name="adj" fmla="val 13000"/>
            </a:avLst>
          </a:prstGeom>
          <a:solidFill>
            <a:srgbClr val="153936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90288" y="5138928"/>
            <a:ext cx="2020824" cy="274320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7FAF8"/>
                </a:solidFill>
                <a:latin typeface="Aptos"/>
              </a:defRPr>
            </a:pPr>
            <a:r>
              <a:t>Tennr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65975" y="5166360"/>
            <a:ext cx="1188720" cy="219456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 algn="r">
              <a:spcAft>
                <a:spcPts val="200"/>
              </a:spcAft>
              <a:defRPr sz="1050" b="0">
                <a:solidFill>
                  <a:srgbClr val="E9AE5F"/>
                </a:solidFill>
                <a:latin typeface="Aptos"/>
              </a:defRPr>
            </a:pPr>
            <a:r>
              <a:t>Referrals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65592" y="5047488"/>
            <a:ext cx="3493008" cy="502920"/>
          </a:xfrm>
          <a:prstGeom prst="roundRect">
            <a:avLst>
              <a:gd name="adj" fmla="val 13000"/>
            </a:avLst>
          </a:prstGeom>
          <a:solidFill>
            <a:srgbClr val="153936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84464" y="5138928"/>
            <a:ext cx="2020824" cy="274320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7FAF8"/>
                </a:solidFill>
                <a:latin typeface="Aptos"/>
              </a:defRPr>
            </a:pPr>
            <a:r>
              <a:t>Stedi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60152" y="5166360"/>
            <a:ext cx="1188720" cy="219456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 algn="r">
              <a:spcAft>
                <a:spcPts val="200"/>
              </a:spcAft>
              <a:defRPr sz="1050" b="0">
                <a:solidFill>
                  <a:srgbClr val="E9AE5F"/>
                </a:solidFill>
                <a:latin typeface="Aptos"/>
              </a:defRPr>
            </a:pPr>
            <a:r>
              <a:t>Payer APIs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" y="5925312"/>
            <a:ext cx="10680192" cy="34747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B9CAC7"/>
                </a:solidFill>
                <a:latin typeface="Aptos"/>
              </a:defRPr>
            </a:pPr>
            <a:r>
              <a:t>Research plan: validate workflow frequency, existing model choice, buyer authority, and willingness to pay before prioritizing accounts.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0D2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8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457200"/>
            <a:ext cx="9784080" cy="228600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7DBBAD"/>
                </a:solidFill>
                <a:latin typeface="Aptos"/>
              </a:defRPr>
            </a:pPr>
            <a:r>
              <a:t>CHARTGROUND M6  /  EXECUTIVE DECISION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932688"/>
            <a:ext cx="10698480" cy="228600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9AE5F"/>
                </a:solidFill>
                <a:latin typeface="Aptos"/>
              </a:defRPr>
            </a:pPr>
            <a:r>
              <a:t>PRODUCT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216152"/>
            <a:ext cx="10881360" cy="859536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3000" b="1">
                <a:solidFill>
                  <a:srgbClr val="F7FAF8"/>
                </a:solidFill>
                <a:latin typeface="Aptos"/>
              </a:defRPr>
            </a:pPr>
            <a:r>
              <a:t>Make the first evaluated workflow easy to reach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75688"/>
            <a:ext cx="10652760" cy="25603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350" b="0">
                <a:solidFill>
                  <a:srgbClr val="B9CAC7"/>
                </a:solidFill>
                <a:latin typeface="Aptos"/>
              </a:defRPr>
            </a:pPr>
            <a:r>
              <a:t>North star: external healthcare ISVs with sustained, paid production API usage—not signups.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67512" y="6519672"/>
            <a:ext cx="10945368" cy="0"/>
          </a:xfrm>
          <a:prstGeom prst="line">
            <a:avLst/>
          </a:prstGeom>
          <a:ln w="8890">
            <a:solidFill>
              <a:srgbClr val="365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67512" y="6556248"/>
            <a:ext cx="9601200" cy="16459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850" b="0">
                <a:solidFill>
                  <a:srgbClr val="B9CAC7"/>
                </a:solidFill>
                <a:latin typeface="Aptos"/>
              </a:defRPr>
            </a:pPr>
            <a:r>
              <a:t>INDEPENDENT CASE STUDY  •  Oct 2026  •  Simulated economics / unverified external demand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556248"/>
            <a:ext cx="365760" cy="155448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 algn="r">
              <a:spcAft>
                <a:spcPts val="200"/>
              </a:spcAft>
              <a:defRPr sz="900" b="1">
                <a:solidFill>
                  <a:srgbClr val="7DBBA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" y="2651760"/>
            <a:ext cx="1645920" cy="850392"/>
          </a:xfrm>
          <a:prstGeom prst="roundRect">
            <a:avLst>
              <a:gd name="adj" fmla="val 13000"/>
            </a:avLst>
          </a:prstGeom>
          <a:solidFill>
            <a:srgbClr val="153936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770632"/>
            <a:ext cx="329184" cy="201168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9AE5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743200"/>
            <a:ext cx="1170432" cy="25603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7FAF8"/>
                </a:solidFill>
                <a:latin typeface="Aptos"/>
              </a:defRPr>
            </a:pPr>
            <a:r>
              <a:t>Discover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136392"/>
            <a:ext cx="1408176" cy="201168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B9CAC7"/>
                </a:solidFill>
                <a:latin typeface="Aptos"/>
              </a:defRPr>
            </a:pPr>
            <a:r>
              <a:t>Docs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68296" y="2852928"/>
            <a:ext cx="155448" cy="274320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900" b="1">
                <a:solidFill>
                  <a:srgbClr val="E9AE5F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32888" y="2651760"/>
            <a:ext cx="1645920" cy="850392"/>
          </a:xfrm>
          <a:prstGeom prst="roundRect">
            <a:avLst>
              <a:gd name="adj" fmla="val 13000"/>
            </a:avLst>
          </a:prstGeom>
          <a:solidFill>
            <a:srgbClr val="153936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33472" y="2770632"/>
            <a:ext cx="329184" cy="201168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9AE5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743200"/>
            <a:ext cx="1170432" cy="25603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7FAF8"/>
                </a:solidFill>
                <a:latin typeface="Aptos"/>
              </a:defRPr>
            </a:pPr>
            <a:r>
              <a:t>Activate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70048" y="3136392"/>
            <a:ext cx="1408176" cy="201168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B9CAC7"/>
                </a:solidFill>
                <a:latin typeface="Aptos"/>
              </a:defRPr>
            </a:pPr>
            <a:r>
              <a:t>First 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97096" y="2852928"/>
            <a:ext cx="155448" cy="274320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900" b="1">
                <a:solidFill>
                  <a:srgbClr val="E9AE5F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1688" y="2651760"/>
            <a:ext cx="1645920" cy="850392"/>
          </a:xfrm>
          <a:prstGeom prst="roundRect">
            <a:avLst>
              <a:gd name="adj" fmla="val 13000"/>
            </a:avLst>
          </a:prstGeom>
          <a:solidFill>
            <a:srgbClr val="153936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62272" y="2770632"/>
            <a:ext cx="329184" cy="201168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9AE5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79" y="2743200"/>
            <a:ext cx="1170432" cy="25603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7FAF8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848" y="3136392"/>
            <a:ext cx="1408176" cy="201168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B9CAC7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25896" y="2852928"/>
            <a:ext cx="155448" cy="274320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900" b="1">
                <a:solidFill>
                  <a:srgbClr val="E9AE5F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2651760"/>
            <a:ext cx="1645920" cy="850392"/>
          </a:xfrm>
          <a:prstGeom prst="roundRect">
            <a:avLst>
              <a:gd name="adj" fmla="val 13000"/>
            </a:avLst>
          </a:prstGeom>
          <a:solidFill>
            <a:srgbClr val="153936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1072" y="2770632"/>
            <a:ext cx="329184" cy="201168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9AE5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743200"/>
            <a:ext cx="1170432" cy="25603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7FAF8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3136392"/>
            <a:ext cx="1408176" cy="201168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B9CAC7"/>
                </a:solidFill>
                <a:latin typeface="Aptos"/>
              </a:defRPr>
            </a:pPr>
            <a:r>
              <a:t>Controls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54696" y="2852928"/>
            <a:ext cx="155448" cy="274320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900" b="1">
                <a:solidFill>
                  <a:srgbClr val="E9AE5F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19288" y="2651760"/>
            <a:ext cx="1645920" cy="850392"/>
          </a:xfrm>
          <a:prstGeom prst="roundRect">
            <a:avLst>
              <a:gd name="adj" fmla="val 13000"/>
            </a:avLst>
          </a:prstGeom>
          <a:solidFill>
            <a:srgbClr val="153936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19871" y="2770632"/>
            <a:ext cx="329184" cy="201168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9AE5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2743200"/>
            <a:ext cx="1170432" cy="25603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7FAF8"/>
                </a:solidFill>
                <a:latin typeface="Aptos"/>
              </a:defRPr>
            </a:pPr>
            <a:r>
              <a:t>Produce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8" y="3136392"/>
            <a:ext cx="1408176" cy="201168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B9CAC7"/>
                </a:solidFill>
                <a:latin typeface="Aptos"/>
              </a:defRPr>
            </a:pPr>
            <a:r>
              <a:t>Live use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3496" y="2852928"/>
            <a:ext cx="155448" cy="274320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900" b="1">
                <a:solidFill>
                  <a:srgbClr val="E9AE5F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48088" y="2651760"/>
            <a:ext cx="1645920" cy="850392"/>
          </a:xfrm>
          <a:prstGeom prst="roundRect">
            <a:avLst>
              <a:gd name="adj" fmla="val 13000"/>
            </a:avLst>
          </a:prstGeom>
          <a:solidFill>
            <a:srgbClr val="153936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48672" y="2770632"/>
            <a:ext cx="329184" cy="201168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9AE5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2743200"/>
            <a:ext cx="1170432" cy="25603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7FAF8"/>
                </a:solidFill>
                <a:latin typeface="Aptos"/>
              </a:defRPr>
            </a:pPr>
            <a:r>
              <a:t>Expand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85248" y="3136392"/>
            <a:ext cx="1408176" cy="201168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B9CAC7"/>
                </a:solidFill>
                <a:latin typeface="Aptos"/>
              </a:defRPr>
            </a:pPr>
            <a:r>
              <a:t>Repeat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" y="3858768"/>
            <a:ext cx="10378440" cy="237744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9AE5F"/>
                </a:solidFill>
                <a:latin typeface="Aptos"/>
              </a:defRPr>
            </a:pPr>
            <a:r>
              <a:t>P0 INVESTMENTS  —  FIVE CAPABILITIES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13232" y="4279392"/>
            <a:ext cx="2029968" cy="1106424"/>
          </a:xfrm>
          <a:prstGeom prst="roundRect">
            <a:avLst>
              <a:gd name="adj" fmla="val 13000"/>
            </a:avLst>
          </a:prstGeom>
          <a:solidFill>
            <a:srgbClr val="1C403C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" y="4471416"/>
            <a:ext cx="1810512" cy="292608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7FAF8"/>
                </a:solidFill>
                <a:latin typeface="Aptos"/>
              </a:defRPr>
            </a:pPr>
            <a:r>
              <a:t>Quickstart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" y="4882896"/>
            <a:ext cx="1783080" cy="25603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060" b="0">
                <a:solidFill>
                  <a:srgbClr val="B9CAC7"/>
                </a:solidFill>
                <a:latin typeface="Aptos"/>
              </a:defRPr>
            </a:pPr>
            <a:r>
              <a:t>FHIR synthetic example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916936" y="4279392"/>
            <a:ext cx="2029968" cy="1106424"/>
          </a:xfrm>
          <a:prstGeom prst="roundRect">
            <a:avLst>
              <a:gd name="adj" fmla="val 13000"/>
            </a:avLst>
          </a:prstGeom>
          <a:solidFill>
            <a:srgbClr val="1C403C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44952" y="4471416"/>
            <a:ext cx="1810512" cy="292608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7FAF8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44952" y="4882896"/>
            <a:ext cx="1783080" cy="25603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060" b="0">
                <a:solidFill>
                  <a:srgbClr val="B9CAC7"/>
                </a:solidFill>
                <a:latin typeface="Aptos"/>
              </a:defRPr>
            </a:pPr>
            <a:r>
              <a:t>Evidence + review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120640" y="4279392"/>
            <a:ext cx="2029968" cy="1106424"/>
          </a:xfrm>
          <a:prstGeom prst="roundRect">
            <a:avLst>
              <a:gd name="adj" fmla="val 13000"/>
            </a:avLst>
          </a:prstGeom>
          <a:solidFill>
            <a:srgbClr val="1C403C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248656" y="4471416"/>
            <a:ext cx="1810512" cy="292608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7FAF8"/>
                </a:solidFill>
                <a:latin typeface="Aptos"/>
              </a:defRPr>
            </a:pPr>
            <a:r>
              <a:t>Cost model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48656" y="4882896"/>
            <a:ext cx="1783080" cy="25603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060" b="0">
                <a:solidFill>
                  <a:srgbClr val="B9CAC7"/>
                </a:solidFill>
                <a:latin typeface="Aptos"/>
              </a:defRPr>
            </a:pPr>
            <a:r>
              <a:t>Per accepted workflow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24344" y="4279392"/>
            <a:ext cx="2029968" cy="1106424"/>
          </a:xfrm>
          <a:prstGeom prst="roundRect">
            <a:avLst>
              <a:gd name="adj" fmla="val 13000"/>
            </a:avLst>
          </a:prstGeom>
          <a:solidFill>
            <a:srgbClr val="1C403C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52360" y="4471416"/>
            <a:ext cx="1810512" cy="292608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7FAF8"/>
                </a:solidFill>
                <a:latin typeface="Aptos"/>
              </a:defRPr>
            </a:pPr>
            <a:r>
              <a:t>Readiness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52360" y="4882896"/>
            <a:ext cx="1783080" cy="25603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060" b="0">
                <a:solidFill>
                  <a:srgbClr val="B9CAC7"/>
                </a:solidFill>
                <a:latin typeface="Aptos"/>
              </a:defRPr>
            </a:pPr>
            <a:r>
              <a:t>PHI / security gates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528048" y="4279392"/>
            <a:ext cx="2029968" cy="1106424"/>
          </a:xfrm>
          <a:prstGeom prst="roundRect">
            <a:avLst>
              <a:gd name="adj" fmla="val 13000"/>
            </a:avLst>
          </a:prstGeom>
          <a:solidFill>
            <a:srgbClr val="1C403C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56064" y="4471416"/>
            <a:ext cx="1810512" cy="292608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7FAF8"/>
                </a:solidFill>
                <a:latin typeface="Aptos"/>
              </a:defRPr>
            </a:pPr>
            <a:r>
              <a:t>Telemetry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56064" y="4882896"/>
            <a:ext cx="1783080" cy="25603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060" b="0">
                <a:solidFill>
                  <a:srgbClr val="B9CAC7"/>
                </a:solidFill>
                <a:latin typeface="Aptos"/>
              </a:defRPr>
            </a:pPr>
            <a:r>
              <a:t>Cohort conversion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77240" y="5641848"/>
            <a:ext cx="10588752" cy="475488"/>
          </a:xfrm>
          <a:prstGeom prst="roundRect">
            <a:avLst>
              <a:gd name="adj" fmla="val 13000"/>
            </a:avLst>
          </a:prstGeom>
          <a:solidFill>
            <a:srgbClr val="153936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50976" y="5760720"/>
            <a:ext cx="10076688" cy="283464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220" b="0">
                <a:solidFill>
                  <a:srgbClr val="F7FAF8"/>
                </a:solidFill>
                <a:latin typeface="Aptos"/>
              </a:defRPr>
            </a:pPr>
            <a:r>
              <a:t>Measure activation → evaluated pilot → paid production at Day 180; proposed targets are unvalidated, cohort-specific hypotheses.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0D2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8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457200"/>
            <a:ext cx="9784080" cy="228600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7DBBAD"/>
                </a:solidFill>
                <a:latin typeface="Aptos"/>
              </a:defRPr>
            </a:pPr>
            <a:r>
              <a:t>CHARTGROUND M6  /  EXECUTIVE DECISION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932688"/>
            <a:ext cx="10698480" cy="228600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9AE5F"/>
                </a:solidFill>
                <a:latin typeface="Aptos"/>
              </a:defRPr>
            </a:pPr>
            <a:r>
              <a:t>COMPETITION AND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216152"/>
            <a:ext cx="10881360" cy="859536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3000" b="1">
                <a:solidFill>
                  <a:srgbClr val="F7FAF8"/>
                </a:solidFill>
                <a:latin typeface="Aptos"/>
              </a:defRPr>
            </a:pPr>
            <a:r>
              <a:t>Prove Claude value with a matched, blinded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75688"/>
            <a:ext cx="10652760" cy="25603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350" b="0">
                <a:solidFill>
                  <a:srgbClr val="B9CAC7"/>
                </a:solidFill>
                <a:latin typeface="Aptos"/>
              </a:defRPr>
            </a:pPr>
            <a:r>
              <a:t>No current-model clinical-quality winner has been established by this case study.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67512" y="6519672"/>
            <a:ext cx="10945368" cy="0"/>
          </a:xfrm>
          <a:prstGeom prst="line">
            <a:avLst/>
          </a:prstGeom>
          <a:ln w="8890">
            <a:solidFill>
              <a:srgbClr val="365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67512" y="6556248"/>
            <a:ext cx="9601200" cy="16459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850" b="0">
                <a:solidFill>
                  <a:srgbClr val="B9CAC7"/>
                </a:solidFill>
                <a:latin typeface="Aptos"/>
              </a:defRPr>
            </a:pPr>
            <a:r>
              <a:t>INDEPENDENT CASE STUDY  •  Oct 2026  •  Simulated economics / unverified external demand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556248"/>
            <a:ext cx="365760" cy="155448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 algn="r">
              <a:spcAft>
                <a:spcPts val="200"/>
              </a:spcAft>
              <a:defRPr sz="900" b="1">
                <a:solidFill>
                  <a:srgbClr val="7DBBA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" y="2642616"/>
            <a:ext cx="3538728" cy="1234440"/>
          </a:xfrm>
          <a:prstGeom prst="roundRect">
            <a:avLst>
              <a:gd name="adj" fmla="val 13000"/>
            </a:avLst>
          </a:prstGeom>
          <a:solidFill>
            <a:srgbClr val="1C403C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752344"/>
            <a:ext cx="3209544" cy="173736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960" b="1">
                <a:solidFill>
                  <a:srgbClr val="E9AE5F"/>
                </a:solidFill>
                <a:latin typeface="Aptos"/>
              </a:defRPr>
            </a:pPr>
            <a:r>
              <a:t>CANDIDATE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980944"/>
            <a:ext cx="3191256" cy="365760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F7FAF8"/>
                </a:solidFill>
                <a:latin typeface="Aptos"/>
              </a:defRPr>
            </a:pPr>
            <a:r>
              <a:t>Claude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374136"/>
            <a:ext cx="3191256" cy="411479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170" b="0">
                <a:solidFill>
                  <a:srgbClr val="B9CAC7"/>
                </a:solidFill>
                <a:latin typeface="Aptos"/>
              </a:defRPr>
            </a:pPr>
            <a:r>
              <a:t>Citations and developer platform; verify structured-output workaround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53128" y="2642616"/>
            <a:ext cx="3538728" cy="1234440"/>
          </a:xfrm>
          <a:prstGeom prst="roundRect">
            <a:avLst>
              <a:gd name="adj" fmla="val 13000"/>
            </a:avLst>
          </a:prstGeom>
          <a:solidFill>
            <a:srgbClr val="1C403C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2752344"/>
            <a:ext cx="3209544" cy="173736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960" b="1">
                <a:solidFill>
                  <a:srgbClr val="E9AE5F"/>
                </a:solidFill>
                <a:latin typeface="Aptos"/>
              </a:defRPr>
            </a:pPr>
            <a:r>
              <a:t>CANDIDATE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980944"/>
            <a:ext cx="3191256" cy="365760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F7FAF8"/>
                </a:solidFill>
                <a:latin typeface="Aptos"/>
              </a:defRPr>
            </a:pPr>
            <a:r>
              <a:t>GPT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374136"/>
            <a:ext cx="3191256" cy="411479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170" b="0">
                <a:solidFill>
                  <a:srgbClr val="B9CAC7"/>
                </a:solidFill>
                <a:latin typeface="Aptos"/>
              </a:defRPr>
            </a:pPr>
            <a:r>
              <a:t>Competing models/tools; compare safety, evidence and complete cost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2642616"/>
            <a:ext cx="3538728" cy="1234440"/>
          </a:xfrm>
          <a:prstGeom prst="roundRect">
            <a:avLst>
              <a:gd name="adj" fmla="val 13000"/>
            </a:avLst>
          </a:prstGeom>
          <a:solidFill>
            <a:srgbClr val="1C403C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8471" y="2752344"/>
            <a:ext cx="3209544" cy="173736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960" b="1">
                <a:solidFill>
                  <a:srgbClr val="E9AE5F"/>
                </a:solidFill>
                <a:latin typeface="Aptos"/>
              </a:defRPr>
            </a:pPr>
            <a:r>
              <a:t>CANDIDATE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1" y="2980944"/>
            <a:ext cx="3191256" cy="365760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F7FAF8"/>
                </a:solidFill>
                <a:latin typeface="Aptos"/>
              </a:defRPr>
            </a:pPr>
            <a:r>
              <a:t>Gemini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1" y="3374136"/>
            <a:ext cx="3191256" cy="411479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170" b="0">
                <a:solidFill>
                  <a:srgbClr val="B9CAC7"/>
                </a:solidFill>
                <a:latin typeface="Aptos"/>
              </a:defRPr>
            </a:pPr>
            <a:r>
              <a:t>Multimodal/cloud choices; compare deployment and quality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4096512"/>
            <a:ext cx="10698480" cy="21031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9AE5F"/>
                </a:solidFill>
                <a:latin typeface="Aptos"/>
              </a:defRPr>
            </a:pPr>
            <a:r>
              <a:t>EVALUATION DESIGN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4462272"/>
            <a:ext cx="5285232" cy="512064"/>
          </a:xfrm>
          <a:prstGeom prst="roundRect">
            <a:avLst>
              <a:gd name="adj" fmla="val 13000"/>
            </a:avLst>
          </a:prstGeom>
          <a:solidFill>
            <a:srgbClr val="153936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562856"/>
            <a:ext cx="1490472" cy="21031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F7FAF8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04288" y="4562856"/>
            <a:ext cx="3593592" cy="237744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110" b="0">
                <a:solidFill>
                  <a:srgbClr val="B9CAC7"/>
                </a:solidFill>
                <a:latin typeface="Aptos"/>
              </a:defRPr>
            </a:pPr>
            <a:r>
              <a:t>Supported claims, citation validity, conflicts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0216" y="4462272"/>
            <a:ext cx="5285232" cy="512064"/>
          </a:xfrm>
          <a:prstGeom prst="roundRect">
            <a:avLst>
              <a:gd name="adj" fmla="val 13000"/>
            </a:avLst>
          </a:prstGeom>
          <a:solidFill>
            <a:srgbClr val="153936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7376" y="4562856"/>
            <a:ext cx="1490472" cy="21031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F7FAF8"/>
                </a:solidFill>
                <a:latin typeface="Aptos"/>
              </a:defRPr>
            </a:pPr>
            <a:r>
              <a:t>Clinical risk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54696" y="4562856"/>
            <a:ext cx="3593592" cy="237744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110" b="0">
                <a:solidFill>
                  <a:srgbClr val="B9CAC7"/>
                </a:solidFill>
                <a:latin typeface="Aptos"/>
              </a:defRPr>
            </a:pPr>
            <a:r>
              <a:t>Harmful errors, abstentions and review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8" y="5084064"/>
            <a:ext cx="5285232" cy="512064"/>
          </a:xfrm>
          <a:prstGeom prst="roundRect">
            <a:avLst>
              <a:gd name="adj" fmla="val 13000"/>
            </a:avLst>
          </a:prstGeom>
          <a:solidFill>
            <a:srgbClr val="153936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" y="5184648"/>
            <a:ext cx="1490472" cy="21031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F7FAF8"/>
                </a:solidFill>
                <a:latin typeface="Aptos"/>
              </a:defRPr>
            </a:pPr>
            <a:r>
              <a:t>Workflow value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04288" y="5184648"/>
            <a:ext cx="3593592" cy="237744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110" b="0">
                <a:solidFill>
                  <a:srgbClr val="B9CAC7"/>
                </a:solidFill>
                <a:latin typeface="Aptos"/>
              </a:defRPr>
            </a:pPr>
            <a:r>
              <a:t>Accepted-case rate and reviewer time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0216" y="5084064"/>
            <a:ext cx="5285232" cy="512064"/>
          </a:xfrm>
          <a:prstGeom prst="roundRect">
            <a:avLst>
              <a:gd name="adj" fmla="val 13000"/>
            </a:avLst>
          </a:prstGeom>
          <a:solidFill>
            <a:srgbClr val="153936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37376" y="5184648"/>
            <a:ext cx="1490472" cy="21031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F7FAF8"/>
                </a:solidFill>
                <a:latin typeface="Aptos"/>
              </a:defRPr>
            </a:pPr>
            <a:r>
              <a:t>Economics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54696" y="5184648"/>
            <a:ext cx="3593592" cy="237744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110" b="0">
                <a:solidFill>
                  <a:srgbClr val="B9CAC7"/>
                </a:solidFill>
                <a:latin typeface="Aptos"/>
              </a:defRPr>
            </a:pPr>
            <a:r>
              <a:t>Latency and cost per accepted workflow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8" y="5971032"/>
            <a:ext cx="10789920" cy="25603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170" b="0">
                <a:solidFill>
                  <a:srgbClr val="B9CAC7"/>
                </a:solidFill>
                <a:latin typeface="Aptos"/>
              </a:defRPr>
            </a:pPr>
            <a:r>
              <a:t>Compare the same synthetic/deidentified cases and a no-AI baseline. Clinician review is proposed; none has occurred in M6.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0D2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8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457200"/>
            <a:ext cx="9784080" cy="228600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7DBBAD"/>
                </a:solidFill>
                <a:latin typeface="Aptos"/>
              </a:defRPr>
            </a:pPr>
            <a:r>
              <a:t>CHARTGROUND M6  /  EXECUTIVE DECISION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932688"/>
            <a:ext cx="10698480" cy="228600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9AE5F"/>
                </a:solidFill>
                <a:latin typeface="Aptos"/>
              </a:defRPr>
            </a:pPr>
            <a:r>
              <a:t>MONETIZATION ECONOMICS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216152"/>
            <a:ext cx="10881360" cy="859536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3000" b="1">
                <a:solidFill>
                  <a:srgbClr val="F7FAF8"/>
                </a:solidFill>
                <a:latin typeface="Aptos"/>
              </a:defRPr>
            </a:pPr>
            <a:r>
              <a:t>Consumption intensity matters more than ISV count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75688"/>
            <a:ext cx="10652760" cy="25603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350" b="0">
                <a:solidFill>
                  <a:srgbClr val="B9CAC7"/>
                </a:solidFill>
                <a:latin typeface="Aptos"/>
              </a:defRPr>
            </a:pPr>
            <a:r>
              <a:t>M6.2 scenarios are illustrative API billings—not recognized Anthropic revenue or margins.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67512" y="6519672"/>
            <a:ext cx="10945368" cy="0"/>
          </a:xfrm>
          <a:prstGeom prst="line">
            <a:avLst/>
          </a:prstGeom>
          <a:ln w="8890">
            <a:solidFill>
              <a:srgbClr val="365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67512" y="6556248"/>
            <a:ext cx="9601200" cy="16459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850" b="0">
                <a:solidFill>
                  <a:srgbClr val="B9CAC7"/>
                </a:solidFill>
                <a:latin typeface="Aptos"/>
              </a:defRPr>
            </a:pPr>
            <a:r>
              <a:t>INDEPENDENT CASE STUDY  •  Oct 2026  •  Simulated economics / unverified external demand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556248"/>
            <a:ext cx="365760" cy="155448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 algn="r">
              <a:spcAft>
                <a:spcPts val="200"/>
              </a:spcAft>
              <a:defRPr sz="900" b="1">
                <a:solidFill>
                  <a:srgbClr val="7DBBA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2679192"/>
            <a:ext cx="3538728" cy="1572768"/>
          </a:xfrm>
          <a:prstGeom prst="roundRect">
            <a:avLst>
              <a:gd name="adj" fmla="val 13000"/>
            </a:avLst>
          </a:prstGeom>
          <a:solidFill>
            <a:srgbClr val="1C403C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2"/>
            <a:ext cx="3154680" cy="53035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3000" b="1">
                <a:solidFill>
                  <a:srgbClr val="F7FAF8"/>
                </a:solidFill>
                <a:latin typeface="Aptos"/>
              </a:defRPr>
            </a:pPr>
            <a:r>
              <a:t>$125K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511296"/>
            <a:ext cx="3209544" cy="25603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E9AE5F"/>
                </a:solidFill>
                <a:latin typeface="Aptos"/>
              </a:defRPr>
            </a:pPr>
            <a:r>
              <a:t>First-year base billings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849624"/>
            <a:ext cx="3182112" cy="228600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150" b="0">
                <a:solidFill>
                  <a:srgbClr val="B9CAC7"/>
                </a:solidFill>
                <a:latin typeface="Aptos"/>
              </a:defRPr>
            </a:pPr>
            <a:r>
              <a:t>Modeled 12-month ramp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2679192"/>
            <a:ext cx="3538728" cy="1572768"/>
          </a:xfrm>
          <a:prstGeom prst="roundRect">
            <a:avLst>
              <a:gd name="adj" fmla="val 13000"/>
            </a:avLst>
          </a:prstGeom>
          <a:solidFill>
            <a:srgbClr val="1C403C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08576" y="2907792"/>
            <a:ext cx="3154680" cy="53035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3000" b="1">
                <a:solidFill>
                  <a:srgbClr val="F7FAF8"/>
                </a:solidFill>
                <a:latin typeface="Aptos"/>
              </a:defRPr>
            </a:pPr>
            <a:r>
              <a:t>$269K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3511296"/>
            <a:ext cx="3209544" cy="25603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E9AE5F"/>
                </a:solidFill>
                <a:latin typeface="Aptos"/>
              </a:defRPr>
            </a:pPr>
            <a:r>
              <a:t>Month-12 annualized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3849624"/>
            <a:ext cx="3182112" cy="228600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150" b="0">
                <a:solidFill>
                  <a:srgbClr val="B9CAC7"/>
                </a:solidFill>
                <a:latin typeface="Aptos"/>
              </a:defRPr>
            </a:pPr>
            <a:r>
              <a:t>50 paying ISVs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74736" y="2679192"/>
            <a:ext cx="3538728" cy="1572768"/>
          </a:xfrm>
          <a:prstGeom prst="roundRect">
            <a:avLst>
              <a:gd name="adj" fmla="val 13000"/>
            </a:avLst>
          </a:prstGeom>
          <a:solidFill>
            <a:srgbClr val="1C403C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8471" y="2907792"/>
            <a:ext cx="3154680" cy="53035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3000" b="1">
                <a:solidFill>
                  <a:srgbClr val="F7FAF8"/>
                </a:solidFill>
                <a:latin typeface="Aptos"/>
              </a:defRPr>
            </a:pPr>
            <a:r>
              <a:t>186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1" y="3511296"/>
            <a:ext cx="3209544" cy="25603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E9AE5F"/>
                </a:solidFill>
                <a:latin typeface="Aptos"/>
              </a:defRPr>
            </a:pPr>
            <a:r>
              <a:t>ISVs for $1M annualized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1" y="3849624"/>
            <a:ext cx="3182112" cy="228600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150" b="0">
                <a:solidFill>
                  <a:srgbClr val="B9CAC7"/>
                </a:solidFill>
                <a:latin typeface="Aptos"/>
              </a:defRPr>
            </a:pPr>
            <a:r>
              <a:t>At 30k monthly workflows each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4088" y="4535424"/>
            <a:ext cx="10835640" cy="1097280"/>
          </a:xfrm>
          <a:prstGeom prst="roundRect">
            <a:avLst>
              <a:gd name="adj" fmla="val 13000"/>
            </a:avLst>
          </a:prstGeom>
          <a:solidFill>
            <a:srgbClr val="153936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4700016"/>
            <a:ext cx="3977639" cy="228600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9AE5F"/>
                </a:solidFill>
                <a:latin typeface="Aptos"/>
              </a:defRPr>
            </a:pPr>
            <a:r>
              <a:t>DOWNSTREAM ISV UNIT ECONOMICS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010912"/>
            <a:ext cx="1353312" cy="338328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900" b="1">
                <a:solidFill>
                  <a:srgbClr val="F7FAF8"/>
                </a:solidFill>
                <a:latin typeface="Aptos"/>
              </a:defRPr>
            </a:pPr>
            <a:r>
              <a:t>30,000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5074920"/>
            <a:ext cx="2944368" cy="21031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B9CAC7"/>
                </a:solidFill>
                <a:latin typeface="Aptos"/>
              </a:defRPr>
            </a:pPr>
            <a:r>
              <a:t>modeled workflows / month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68112" y="5047488"/>
            <a:ext cx="329184" cy="25603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9AE5F"/>
                </a:solidFill>
                <a:latin typeface="Aptos"/>
              </a:defRPr>
            </a:pPr>
            <a:r>
              <a:t>vs.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5010912"/>
            <a:ext cx="1472184" cy="338328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900" b="1">
                <a:solidFill>
                  <a:srgbClr val="F7FAF8"/>
                </a:solidFill>
                <a:latin typeface="Aptos"/>
              </a:defRPr>
            </a:pPr>
            <a:r>
              <a:t>31,558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5074920"/>
            <a:ext cx="3419856" cy="21031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B9CAC7"/>
                </a:solidFill>
                <a:latin typeface="Aptos"/>
              </a:defRPr>
            </a:pPr>
            <a:r>
              <a:t>estimated break-even workflows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" y="5879592"/>
            <a:ext cx="10698480" cy="34747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210" b="0">
                <a:solidFill>
                  <a:srgbClr val="B9CAC7"/>
                </a:solidFill>
                <a:latin typeface="Aptos"/>
              </a:defRPr>
            </a:pPr>
            <a:r>
              <a:t>Risk: customer workflow frequency, clinician review costs, discounts and actual paid conversion remain unverified.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0D2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8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457200"/>
            <a:ext cx="9784080" cy="228600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7DBBAD"/>
                </a:solidFill>
                <a:latin typeface="Aptos"/>
              </a:defRPr>
            </a:pPr>
            <a:r>
              <a:t>CHARTGROUND M6  /  EXECUTIVE DECISION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932688"/>
            <a:ext cx="10698480" cy="228600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9AE5F"/>
                </a:solidFill>
                <a:latin typeface="Aptos"/>
              </a:defRPr>
            </a:pPr>
            <a:r>
              <a:t>RISK-ADJUSTED BUSINESS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216152"/>
            <a:ext cx="10881360" cy="859536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3000" b="1">
                <a:solidFill>
                  <a:srgbClr val="F7FAF8"/>
                </a:solidFill>
                <a:latin typeface="Aptos"/>
              </a:defRPr>
            </a:pPr>
            <a:r>
              <a:t>The downside justifies validation before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75688"/>
            <a:ext cx="10652760" cy="25603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350" b="0">
                <a:solidFill>
                  <a:srgbClr val="B9CAC7"/>
                </a:solidFill>
                <a:latin typeface="Aptos"/>
              </a:defRPr>
            </a:pPr>
            <a:r>
              <a:t>Modeled Year-1 API billings; hypothetical scenarios are not a financial forecast.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67512" y="6519672"/>
            <a:ext cx="10945368" cy="0"/>
          </a:xfrm>
          <a:prstGeom prst="line">
            <a:avLst/>
          </a:prstGeom>
          <a:ln w="8890">
            <a:solidFill>
              <a:srgbClr val="365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67512" y="6556248"/>
            <a:ext cx="9601200" cy="16459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850" b="0">
                <a:solidFill>
                  <a:srgbClr val="B9CAC7"/>
                </a:solidFill>
                <a:latin typeface="Aptos"/>
              </a:defRPr>
            </a:pPr>
            <a:r>
              <a:t>INDEPENDENT CASE STUDY  •  Oct 2026  •  Simulated economics / unverified external demand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556248"/>
            <a:ext cx="365760" cy="155448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 algn="r">
              <a:spcAft>
                <a:spcPts val="200"/>
              </a:spcAft>
              <a:defRPr sz="900" b="1">
                <a:solidFill>
                  <a:srgbClr val="7DBBAD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779776"/>
            <a:ext cx="3337560" cy="320040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500" b="0">
                <a:solidFill>
                  <a:srgbClr val="F7FAF8"/>
                </a:solidFill>
                <a:latin typeface="Aptos"/>
              </a:defRPr>
            </a:pPr>
            <a:r>
              <a:t>Base case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50791" y="2852928"/>
            <a:ext cx="4965192" cy="210312"/>
          </a:xfrm>
          <a:prstGeom prst="rect">
            <a:avLst/>
          </a:prstGeom>
          <a:solidFill>
            <a:srgbClr val="153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50791" y="2852928"/>
            <a:ext cx="3459083" cy="210312"/>
          </a:xfrm>
          <a:prstGeom prst="rect">
            <a:avLst/>
          </a:prstGeom>
          <a:solidFill>
            <a:srgbClr val="7DB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600" y="2734056"/>
            <a:ext cx="1965960" cy="365760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7FAF8"/>
                </a:solidFill>
                <a:latin typeface="Aptos"/>
              </a:defRPr>
            </a:pPr>
            <a:r>
              <a:t>$125.4K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584448"/>
            <a:ext cx="3337560" cy="320040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500" b="0">
                <a:solidFill>
                  <a:srgbClr val="F7FAF8"/>
                </a:solidFill>
                <a:latin typeface="Aptos"/>
              </a:defRPr>
            </a:pPr>
            <a:r>
              <a:t>Volume + price stress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50791" y="3657600"/>
            <a:ext cx="4965192" cy="210312"/>
          </a:xfrm>
          <a:prstGeom prst="rect">
            <a:avLst/>
          </a:prstGeom>
          <a:solidFill>
            <a:srgbClr val="153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50791" y="3657600"/>
            <a:ext cx="2336398" cy="210312"/>
          </a:xfrm>
          <a:prstGeom prst="rect">
            <a:avLst/>
          </a:prstGeom>
          <a:solidFill>
            <a:srgbClr val="D98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3538728"/>
            <a:ext cx="1965960" cy="365760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7FAF8"/>
                </a:solidFill>
                <a:latin typeface="Aptos"/>
              </a:defRPr>
            </a:pPr>
            <a:r>
              <a:t>$84.7K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4389120"/>
            <a:ext cx="3337560" cy="320040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7FAF8"/>
                </a:solidFill>
                <a:latin typeface="Aptos"/>
              </a:defRPr>
            </a:pPr>
            <a:r>
              <a:t>Scenario-weighted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50791" y="4462272"/>
            <a:ext cx="4965192" cy="210312"/>
          </a:xfrm>
          <a:prstGeom prst="rect">
            <a:avLst/>
          </a:prstGeom>
          <a:solidFill>
            <a:srgbClr val="153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50791" y="4462272"/>
            <a:ext cx="4523841" cy="210312"/>
          </a:xfrm>
          <a:prstGeom prst="rect">
            <a:avLst/>
          </a:prstGeom>
          <a:solidFill>
            <a:srgbClr val="E9A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4343400"/>
            <a:ext cx="1965960" cy="365760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7FAF8"/>
                </a:solidFill>
                <a:latin typeface="Aptos"/>
              </a:defRPr>
            </a:pPr>
            <a:r>
              <a:t>$164.0K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" y="5440680"/>
            <a:ext cx="10625328" cy="740664"/>
          </a:xfrm>
          <a:prstGeom prst="roundRect">
            <a:avLst>
              <a:gd name="adj" fmla="val 13000"/>
            </a:avLst>
          </a:prstGeom>
          <a:solidFill>
            <a:srgbClr val="1C403C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596128"/>
            <a:ext cx="3072384" cy="25603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E9AE5F"/>
                </a:solidFill>
                <a:latin typeface="Aptos"/>
              </a:defRPr>
            </a:pPr>
            <a:r>
              <a:t>Do not infer platform profit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24528" y="5577840"/>
            <a:ext cx="6885432" cy="43891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B9CAC7"/>
                </a:solidFill>
                <a:latin typeface="Aptos"/>
              </a:defRPr>
            </a:pPr>
            <a:r>
              <a:t>Model-provider inference cost, selling expense, support and real contracts are unavailable. Weights are subjective.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0D2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8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457200"/>
            <a:ext cx="9784080" cy="228600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7DBBAD"/>
                </a:solidFill>
                <a:latin typeface="Aptos"/>
              </a:defRPr>
            </a:pPr>
            <a:r>
              <a:t>CHARTGROUND M6  /  EXECUTIVE DECISION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932688"/>
            <a:ext cx="10698480" cy="228600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9AE5F"/>
                </a:solidFill>
                <a:latin typeface="Aptos"/>
              </a:defRPr>
            </a:pPr>
            <a:r>
              <a:t>COMMERCIAL ROUTE AND 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216152"/>
            <a:ext cx="10881360" cy="859536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3000" b="1">
                <a:solidFill>
                  <a:srgbClr val="F7FAF8"/>
                </a:solidFill>
                <a:latin typeface="Aptos"/>
              </a:defRPr>
            </a:pPr>
            <a:r>
              <a:t>Use direct API first; open channels when buyer needs justify them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13432"/>
            <a:ext cx="10652760" cy="25603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350" b="0">
                <a:solidFill>
                  <a:srgbClr val="B9CAC7"/>
                </a:solidFill>
                <a:latin typeface="Aptos"/>
              </a:defRPr>
            </a:pPr>
            <a:r>
              <a:t>Distribution choice, HIPAA eligibility and partner economics vary by service and contractual path.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67512" y="6519672"/>
            <a:ext cx="10945368" cy="0"/>
          </a:xfrm>
          <a:prstGeom prst="line">
            <a:avLst/>
          </a:prstGeom>
          <a:ln w="8890">
            <a:solidFill>
              <a:srgbClr val="365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67512" y="6556248"/>
            <a:ext cx="9601200" cy="16459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850" b="0">
                <a:solidFill>
                  <a:srgbClr val="B9CAC7"/>
                </a:solidFill>
                <a:latin typeface="Aptos"/>
              </a:defRPr>
            </a:pPr>
            <a:r>
              <a:t>INDEPENDENT CASE STUDY  •  Oct 2026  •  Simulated economics / unverified external demand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556248"/>
            <a:ext cx="365760" cy="155448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 algn="r">
              <a:spcAft>
                <a:spcPts val="200"/>
              </a:spcAft>
              <a:defRPr sz="900" b="1">
                <a:solidFill>
                  <a:srgbClr val="7DBBAD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42616"/>
            <a:ext cx="2596896" cy="914400"/>
          </a:xfrm>
          <a:prstGeom prst="roundRect">
            <a:avLst>
              <a:gd name="adj" fmla="val 13000"/>
            </a:avLst>
          </a:prstGeom>
          <a:solidFill>
            <a:srgbClr val="1C403C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807208"/>
            <a:ext cx="256032" cy="219456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9AE5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779776"/>
            <a:ext cx="2048256" cy="25603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7FAF8"/>
                </a:solidFill>
                <a:latin typeface="Aptos"/>
              </a:defRPr>
            </a:pPr>
            <a:r>
              <a:t>Direct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227832"/>
            <a:ext cx="2258568" cy="21031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B9CAC7"/>
                </a:solidFill>
                <a:latin typeface="Aptos"/>
              </a:defRPr>
            </a:pPr>
            <a:r>
              <a:t>Developer evaluation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39" y="2642616"/>
            <a:ext cx="2596896" cy="914400"/>
          </a:xfrm>
          <a:prstGeom prst="roundRect">
            <a:avLst>
              <a:gd name="adj" fmla="val 13000"/>
            </a:avLst>
          </a:prstGeom>
          <a:solidFill>
            <a:srgbClr val="1C403C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0168" y="2807208"/>
            <a:ext cx="256032" cy="219456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9AE5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41063" y="2779776"/>
            <a:ext cx="2048256" cy="25603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7FAF8"/>
                </a:solidFill>
                <a:latin typeface="Aptos"/>
              </a:defRPr>
            </a:pPr>
            <a:r>
              <a:t>Cloud channels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5887" y="3227832"/>
            <a:ext cx="2258568" cy="21031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B9CAC7"/>
                </a:solidFill>
                <a:latin typeface="Aptos"/>
              </a:defRPr>
            </a:pPr>
            <a:r>
              <a:t>Procurement fit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2642616"/>
            <a:ext cx="2596896" cy="914400"/>
          </a:xfrm>
          <a:prstGeom prst="roundRect">
            <a:avLst>
              <a:gd name="adj" fmla="val 13000"/>
            </a:avLst>
          </a:prstGeom>
          <a:solidFill>
            <a:srgbClr val="1C403C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2807208"/>
            <a:ext cx="256032" cy="219456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9AE5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9983" y="2779776"/>
            <a:ext cx="2048256" cy="25603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7FAF8"/>
                </a:solidFill>
                <a:latin typeface="Aptos"/>
              </a:defRPr>
            </a:pPr>
            <a:r>
              <a:t>Services partners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7" y="3227832"/>
            <a:ext cx="2258568" cy="21031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B9CAC7"/>
                </a:solidFill>
                <a:latin typeface="Aptos"/>
              </a:defRPr>
            </a:pPr>
            <a:r>
              <a:t>Complex integrations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2642616"/>
            <a:ext cx="2596896" cy="914400"/>
          </a:xfrm>
          <a:prstGeom prst="roundRect">
            <a:avLst>
              <a:gd name="adj" fmla="val 13000"/>
            </a:avLst>
          </a:prstGeom>
          <a:solidFill>
            <a:srgbClr val="1C403C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08007" y="2807208"/>
            <a:ext cx="256032" cy="219456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9AE5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18904" y="2779776"/>
            <a:ext cx="2048256" cy="25603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7FAF8"/>
                </a:solidFill>
                <a:latin typeface="Aptos"/>
              </a:defRPr>
            </a:pPr>
            <a:r>
              <a:t>Oncology platforms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3728" y="3227832"/>
            <a:ext cx="2258568" cy="21031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B9CAC7"/>
                </a:solidFill>
                <a:latin typeface="Aptos"/>
              </a:defRPr>
            </a:pPr>
            <a:r>
              <a:t>Later distribution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3858768"/>
            <a:ext cx="10515600" cy="237744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9AE5F"/>
                </a:solidFill>
                <a:latin typeface="Aptos"/>
              </a:defRPr>
            </a:pPr>
            <a:r>
              <a:t>THREE NO-GO GATES BEFORE ANY PHI DEPLOYMENT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0664" y="4261104"/>
            <a:ext cx="3511296" cy="1207008"/>
          </a:xfrm>
          <a:prstGeom prst="roundRect">
            <a:avLst>
              <a:gd name="adj" fmla="val 13000"/>
            </a:avLst>
          </a:prstGeom>
          <a:solidFill>
            <a:srgbClr val="153936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4453128"/>
            <a:ext cx="3209544" cy="356616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7FAF8"/>
                </a:solidFill>
                <a:latin typeface="Aptos"/>
              </a:defRPr>
            </a:pPr>
            <a:r>
              <a:t>01   Agreement + features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" y="4946904"/>
            <a:ext cx="3200400" cy="448056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140" b="0">
                <a:solidFill>
                  <a:srgbClr val="B9CAC7"/>
                </a:solidFill>
                <a:latin typeface="Aptos"/>
              </a:defRPr>
            </a:pPr>
            <a:r>
              <a:t>Executed BAA; eligible API configuration and tools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71416" y="4261104"/>
            <a:ext cx="3511296" cy="1207008"/>
          </a:xfrm>
          <a:prstGeom prst="roundRect">
            <a:avLst>
              <a:gd name="adj" fmla="val 13000"/>
            </a:avLst>
          </a:prstGeom>
          <a:solidFill>
            <a:srgbClr val="153936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17720" y="4453128"/>
            <a:ext cx="3209544" cy="356616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7FAF8"/>
                </a:solidFill>
                <a:latin typeface="Aptos"/>
              </a:defRPr>
            </a:pPr>
            <a:r>
              <a:t>02   Data-flow approval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4946904"/>
            <a:ext cx="3200400" cy="448056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140" b="0">
                <a:solidFill>
                  <a:srgbClr val="B9CAC7"/>
                </a:solidFill>
                <a:latin typeface="Aptos"/>
              </a:defRPr>
            </a:pPr>
            <a:r>
              <a:t>Prompts, logs, subprocessors, vendor/security review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02168" y="4261104"/>
            <a:ext cx="3511296" cy="1207008"/>
          </a:xfrm>
          <a:prstGeom prst="roundRect">
            <a:avLst>
              <a:gd name="adj" fmla="val 13000"/>
            </a:avLst>
          </a:prstGeom>
          <a:solidFill>
            <a:srgbClr val="153936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48472" y="4453128"/>
            <a:ext cx="3209544" cy="356616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7FAF8"/>
                </a:solidFill>
                <a:latin typeface="Aptos"/>
              </a:defRPr>
            </a:pPr>
            <a:r>
              <a:t>03   Clinical intended use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8472" y="4946904"/>
            <a:ext cx="3200400" cy="448056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140" b="0">
                <a:solidFill>
                  <a:srgbClr val="B9CAC7"/>
                </a:solidFill>
                <a:latin typeface="Aptos"/>
              </a:defRPr>
            </a:pPr>
            <a:r>
              <a:t>Safety assessment, clinician sign-off, regulatory scope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" y="5870448"/>
            <a:ext cx="10607040" cy="30175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180" b="0">
                <a:solidFill>
                  <a:srgbClr val="B9CAC7"/>
                </a:solidFill>
                <a:latin typeface="Aptos"/>
              </a:defRPr>
            </a:pPr>
            <a:r>
              <a:t>ChartGround M1–M5 passed local tests; this is not PHI authorization, production certification or real financial settlement.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0D2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8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457200"/>
            <a:ext cx="9784080" cy="228600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7DBBAD"/>
                </a:solidFill>
                <a:latin typeface="Aptos"/>
              </a:defRPr>
            </a:pPr>
            <a:r>
              <a:t>CHARTGROUND M6  /  EXECUTIVE DECISION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932688"/>
            <a:ext cx="10698480" cy="228600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9AE5F"/>
                </a:solidFill>
                <a:latin typeface="Aptos"/>
              </a:defRPr>
            </a:pPr>
            <a:r>
              <a:t>VALIDATION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216152"/>
            <a:ext cx="10881360" cy="859536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3000" b="1">
                <a:solidFill>
                  <a:srgbClr val="F7FAF8"/>
                </a:solidFill>
                <a:latin typeface="Aptos"/>
              </a:defRPr>
            </a:pPr>
            <a:r>
              <a:t>A 90-day decision; a 180-day production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75688"/>
            <a:ext cx="10652760" cy="25603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350" b="0">
                <a:solidFill>
                  <a:srgbClr val="B9CAC7"/>
                </a:solidFill>
                <a:latin typeface="Aptos"/>
              </a:defRPr>
            </a:pPr>
            <a:r>
              <a:t>These are proposed external customer-validation activities—not work already completed or customer commitments.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67512" y="6519672"/>
            <a:ext cx="10945368" cy="0"/>
          </a:xfrm>
          <a:prstGeom prst="line">
            <a:avLst/>
          </a:prstGeom>
          <a:ln w="8890">
            <a:solidFill>
              <a:srgbClr val="365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67512" y="6556248"/>
            <a:ext cx="9601200" cy="16459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850" b="0">
                <a:solidFill>
                  <a:srgbClr val="B9CAC7"/>
                </a:solidFill>
                <a:latin typeface="Aptos"/>
              </a:defRPr>
            </a:pPr>
            <a:r>
              <a:t>INDEPENDENT CASE STUDY  •  Oct 2026  •  Simulated economics / unverified external demand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556248"/>
            <a:ext cx="365760" cy="155448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 algn="r">
              <a:spcAft>
                <a:spcPts val="200"/>
              </a:spcAft>
              <a:defRPr sz="900" b="1">
                <a:solidFill>
                  <a:srgbClr val="7DBBAD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" y="2679192"/>
            <a:ext cx="2606040" cy="2176272"/>
          </a:xfrm>
          <a:prstGeom prst="roundRect">
            <a:avLst>
              <a:gd name="adj" fmla="val 13000"/>
            </a:avLst>
          </a:prstGeom>
          <a:solidFill>
            <a:srgbClr val="1C403C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862072"/>
            <a:ext cx="2295144" cy="265176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9AE5F"/>
                </a:solidFill>
                <a:latin typeface="Aptos"/>
              </a:defRPr>
            </a:pPr>
            <a:r>
              <a:t>D0–30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246120"/>
            <a:ext cx="2286000" cy="34747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F7FAF8"/>
                </a:solidFill>
                <a:latin typeface="Aptos"/>
              </a:defRPr>
            </a:pPr>
            <a:r>
              <a:t>Discover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721608"/>
            <a:ext cx="2322576" cy="932688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B9CAC7"/>
                </a:solidFill>
                <a:latin typeface="Aptos"/>
              </a:defRPr>
            </a:pPr>
            <a:r>
              <a:t>6–8 real buyer / developer interviews; ≥2 repeated costly problems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2679192"/>
            <a:ext cx="2606040" cy="2176272"/>
          </a:xfrm>
          <a:prstGeom prst="roundRect">
            <a:avLst>
              <a:gd name="adj" fmla="val 13000"/>
            </a:avLst>
          </a:prstGeom>
          <a:solidFill>
            <a:srgbClr val="1C403C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862072"/>
            <a:ext cx="2295144" cy="265176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9AE5F"/>
                </a:solidFill>
                <a:latin typeface="Aptos"/>
              </a:defRPr>
            </a:pPr>
            <a:r>
              <a:t>D31–60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246120"/>
            <a:ext cx="2286000" cy="34747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F7FAF8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721608"/>
            <a:ext cx="2322576" cy="932688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B9CAC7"/>
                </a:solidFill>
                <a:latin typeface="Aptos"/>
              </a:defRPr>
            </a:pPr>
            <a:r>
              <a:t>Matched models, human review, workflow frequency and cost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18504" y="2679192"/>
            <a:ext cx="2606040" cy="2176272"/>
          </a:xfrm>
          <a:prstGeom prst="roundRect">
            <a:avLst>
              <a:gd name="adj" fmla="val 13000"/>
            </a:avLst>
          </a:prstGeom>
          <a:solidFill>
            <a:srgbClr val="1C403C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55664" y="2862072"/>
            <a:ext cx="2295144" cy="265176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9AE5F"/>
                </a:solidFill>
                <a:latin typeface="Aptos"/>
              </a:defRPr>
            </a:pPr>
            <a:r>
              <a:t>D61–90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3246120"/>
            <a:ext cx="2286000" cy="34747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F7FAF8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3721608"/>
            <a:ext cx="2322576" cy="932688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B9CAC7"/>
                </a:solidFill>
                <a:latin typeface="Aptos"/>
              </a:defRPr>
            </a:pPr>
            <a:r>
              <a:t>Sponsor, readiness, economic evidence; go / iterate / stop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16567" y="2679192"/>
            <a:ext cx="2606040" cy="2176272"/>
          </a:xfrm>
          <a:prstGeom prst="roundRect">
            <a:avLst>
              <a:gd name="adj" fmla="val 13000"/>
            </a:avLst>
          </a:prstGeom>
          <a:solidFill>
            <a:srgbClr val="1C403C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53728" y="2862072"/>
            <a:ext cx="2295144" cy="265176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9AE5F"/>
                </a:solidFill>
                <a:latin typeface="Aptos"/>
              </a:defRPr>
            </a:pPr>
            <a:r>
              <a:t>D90–180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3246120"/>
            <a:ext cx="2286000" cy="34747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F7FAF8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3728" y="3721608"/>
            <a:ext cx="2322576" cy="932688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B9CAC7"/>
                </a:solidFill>
                <a:latin typeface="Aptos"/>
              </a:defRPr>
            </a:pPr>
            <a:r>
              <a:t>Paid production in mature cohorts and sustained non-test usage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" y="5221224"/>
            <a:ext cx="10607040" cy="932688"/>
          </a:xfrm>
          <a:prstGeom prst="roundRect">
            <a:avLst>
              <a:gd name="adj" fmla="val 13000"/>
            </a:avLst>
          </a:prstGeom>
          <a:solidFill>
            <a:srgbClr val="153936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" y="5431536"/>
            <a:ext cx="2834640" cy="265176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9AE5F"/>
                </a:solidFill>
                <a:latin typeface="Aptos"/>
              </a:defRPr>
            </a:pPr>
            <a:r>
              <a:t>Current evidence status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12463" y="5422392"/>
            <a:ext cx="7287768" cy="39319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250" b="0">
                <a:solidFill>
                  <a:srgbClr val="F7FAF8"/>
                </a:solidFill>
                <a:latin typeface="Aptos"/>
              </a:defRPr>
            </a:pPr>
            <a:r>
              <a:t>20 accounts researched • 0 customer interviews • 0 external design partners • 0 paid production customers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0D2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8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457200"/>
            <a:ext cx="9784080" cy="228600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7DBBAD"/>
                </a:solidFill>
                <a:latin typeface="Aptos"/>
              </a:defRPr>
            </a:pPr>
            <a:r>
              <a:t>CHARTGROUND M6  /  EXECUTIVE DECISION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932688"/>
            <a:ext cx="10698480" cy="228600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9AE5F"/>
                </a:solidFill>
                <a:latin typeface="Aptos"/>
              </a:defRPr>
            </a:pPr>
            <a:r>
              <a:t>EXECUTIVE INVESTMENT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216152"/>
            <a:ext cx="10881360" cy="859536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3000" b="1">
                <a:solidFill>
                  <a:srgbClr val="F7FAF8"/>
                </a:solidFill>
                <a:latin typeface="Aptos"/>
              </a:defRPr>
            </a:pPr>
            <a:r>
              <a:t>Authorize a bounded validation effort—not a broad launch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75688"/>
            <a:ext cx="10652760" cy="25603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350" b="0">
                <a:solidFill>
                  <a:srgbClr val="B9CAC7"/>
                </a:solidFill>
                <a:latin typeface="Aptos"/>
              </a:defRPr>
            </a:pPr>
            <a:r>
              <a:t>An independently developed proposal. Spending, prospective accounts and model performance require external validation.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67512" y="6519672"/>
            <a:ext cx="10945368" cy="0"/>
          </a:xfrm>
          <a:prstGeom prst="line">
            <a:avLst/>
          </a:prstGeom>
          <a:ln w="8890">
            <a:solidFill>
              <a:srgbClr val="365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67512" y="6556248"/>
            <a:ext cx="9601200" cy="16459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850" b="0">
                <a:solidFill>
                  <a:srgbClr val="B9CAC7"/>
                </a:solidFill>
                <a:latin typeface="Aptos"/>
              </a:defRPr>
            </a:pPr>
            <a:r>
              <a:t>INDEPENDENT CASE STUDY  •  Oct 2026  •  Simulated economics / unverified external demand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556248"/>
            <a:ext cx="365760" cy="155448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 algn="r">
              <a:spcAft>
                <a:spcPts val="200"/>
              </a:spcAft>
              <a:defRPr sz="900" b="1">
                <a:solidFill>
                  <a:srgbClr val="7DBBAD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660904"/>
            <a:ext cx="10735056" cy="768096"/>
          </a:xfrm>
          <a:prstGeom prst="roundRect">
            <a:avLst>
              <a:gd name="adj" fmla="val 13000"/>
            </a:avLst>
          </a:prstGeom>
          <a:solidFill>
            <a:srgbClr val="1C403C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852928"/>
            <a:ext cx="2029968" cy="283464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E9AE5F"/>
                </a:solidFill>
                <a:latin typeface="Aptos"/>
              </a:defRPr>
            </a:pPr>
            <a:r>
              <a:t>GO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2834640"/>
            <a:ext cx="8229600" cy="420624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B9CAC7"/>
                </a:solidFill>
                <a:latin typeface="Aptos"/>
              </a:defRPr>
            </a:pPr>
            <a:r>
              <a:t>Independent sponsor, repeat workflow, safe model quality, clear cost-per-accepted-case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611880"/>
            <a:ext cx="10735056" cy="768096"/>
          </a:xfrm>
          <a:prstGeom prst="roundRect">
            <a:avLst>
              <a:gd name="adj" fmla="val 13000"/>
            </a:avLst>
          </a:prstGeom>
          <a:solidFill>
            <a:srgbClr val="153936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3803904"/>
            <a:ext cx="2029968" cy="283464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7FAF8"/>
                </a:solidFill>
                <a:latin typeface="Aptos"/>
              </a:defRPr>
            </a:pPr>
            <a:r>
              <a:t>ITERATE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9232" y="3785616"/>
            <a:ext cx="8229600" cy="420624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B9CAC7"/>
                </a:solidFill>
                <a:latin typeface="Aptos"/>
              </a:defRPr>
            </a:pPr>
            <a:r>
              <a:t>Developer interest exists but evaluation, security, or economics remain uncertain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562856"/>
            <a:ext cx="10735056" cy="768096"/>
          </a:xfrm>
          <a:prstGeom prst="roundRect">
            <a:avLst>
              <a:gd name="adj" fmla="val 13000"/>
            </a:avLst>
          </a:prstGeom>
          <a:solidFill>
            <a:srgbClr val="153936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" y="4754880"/>
            <a:ext cx="2029968" cy="283464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7FAF8"/>
                </a:solidFill>
                <a:latin typeface="Aptos"/>
              </a:defRPr>
            </a:pPr>
            <a:r>
              <a:t>STOP / PIVOT when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99232" y="4736592"/>
            <a:ext cx="8229600" cy="420624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B9CAC7"/>
                </a:solidFill>
                <a:latin typeface="Aptos"/>
              </a:defRPr>
            </a:pPr>
            <a:r>
              <a:t>No differentiated demand, unacceptable clinical risk, or unfavorable sustainable economics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" y="5733288"/>
            <a:ext cx="10698480" cy="420624"/>
          </a:xfrm>
          <a:prstGeom prst="roundRect">
            <a:avLst>
              <a:gd name="adj" fmla="val 13000"/>
            </a:avLst>
          </a:prstGeom>
          <a:solidFill>
            <a:srgbClr val="153936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5824728"/>
            <a:ext cx="10332720" cy="21031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7FAF8"/>
                </a:solidFill>
                <a:latin typeface="Aptos"/>
              </a:defRPr>
            </a:pPr>
            <a:r>
              <a:t>Executive takeaway: one targeted market, explicit unit economics, testable model quality, and defined stop rules.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0D2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8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0664" y="621792"/>
            <a:ext cx="10515600" cy="246888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7DBBAD"/>
                </a:solidFill>
                <a:latin typeface="Aptos"/>
              </a:defRPr>
            </a:pPr>
            <a:r>
              <a:t>CHARTGROUND M6  /  SUPPORTING MATERIAL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664" y="1828800"/>
            <a:ext cx="10149840" cy="1417320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3800" b="1">
                <a:solidFill>
                  <a:srgbClr val="F7FAF8"/>
                </a:solidFill>
                <a:latin typeface="Aptos"/>
              </a:defRPr>
            </a:pPr>
            <a:r>
              <a:t>Detailed research and</a:t>
            </a:r>
          </a:p>
          <a:p>
            <a:pPr>
              <a:spcAft>
                <a:spcPts val="200"/>
              </a:spcAft>
              <a:defRPr sz="3800" b="1">
                <a:solidFill>
                  <a:srgbClr val="F7FAF8"/>
                </a:solidFill>
                <a:latin typeface="Aptos"/>
              </a:defRPr>
            </a:pPr>
            <a:r>
              <a:t>working assumptions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13048"/>
            <a:ext cx="10415016" cy="512064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800" b="0">
                <a:solidFill>
                  <a:srgbClr val="B9CAC7"/>
                </a:solidFill>
                <a:latin typeface="Aptos"/>
              </a:defRPr>
            </a:pPr>
            <a:r>
              <a:t>Editable supporting slides retained from the original M6.1–M6.6 investment deck.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736592"/>
            <a:ext cx="10424160" cy="438912"/>
          </a:xfrm>
          <a:prstGeom prst="rect">
            <a:avLst/>
          </a:prstGeom>
          <a:noFill/>
        </p:spPr>
        <p:txBody>
          <a:bodyPr wrap="square" lIns="36576" rIns="36576" tIns="13716" bIns="0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E9AE5F"/>
                </a:solidFill>
                <a:latin typeface="Aptos"/>
              </a:defRPr>
            </a:pPr>
            <a:r>
              <a:t>Public sources • modeled financial scenarios • proposed research plans • local ChartGround technical evidence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Independent portfolio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ChartGround M6 — Executive Investment Strategy | Market to Risk-Adjusted Decision</dc:title>
  <dc:subject>Independent investment thesis: M6.1–M6.6, including competitive, partner and risk analysis</dc:subject>
  <dc:creator>Independent product strategy case study</dc:creator>
  <cp:lastModifiedBy>Independent product strategy case study</cp:lastModifiedBy>
  <cp:revision>1</cp:revision>
  <dcterms:created xsi:type="dcterms:W3CDTF">2026-10-29T02:32:53Z</dcterms:created>
  <dcterms:modified xsi:type="dcterms:W3CDTF">2026-10-29T02:32:53Z</dcterms:modified>
  <cp:keywords>Claude, Anthropic, oncology, clinical workflow ISVs, monetization, paired evaluation, investment gates, scenario analysis</cp:keywords>
</cp:coreProperties>
</file>